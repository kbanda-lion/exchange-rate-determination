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ircle"/>
          <p:cNvSpPr>
            <a:spLocks noGrp="1"/>
          </p:cNvSpPr>
          <p:nvPr/>
        </p:nvSpPr>
        <p:spPr>
          <a:xfrm>
            <a:off x="7955279" y="-1463039"/>
            <a:ext cx="5120640" cy="5120640"/>
          </a:xfrm>
          <a:prstGeom prst="ellipse">
            <a:avLst/>
          </a:prstGeom>
          <a:solidFill>
            <a:srgbClr val="1A3C7D">
              <a:alpha val="1A000"/>
            </a:srgbClr>
          </a:solidFill>
          <a:ln>
            <a:noFill/>
          </a:ln>
        </p:spPr>
        <p:txBody>
          <a:bodyPr/>
          <a:lstStyle/>
          <a:p/>
        </p:txBody>
      </p:sp>
      <p:sp>
        <p:nvSpPr>
          <p:cNvPr id="99" name="circle"/>
          <p:cNvSpPr>
            <a:spLocks noGrp="1"/>
          </p:cNvSpPr>
          <p:nvPr/>
        </p:nvSpPr>
        <p:spPr>
          <a:xfrm>
            <a:off x="9509759" y="-1188720"/>
            <a:ext cx="3291840" cy="3291840"/>
          </a:xfrm>
          <a:prstGeom prst="ellipse">
            <a:avLst/>
          </a:prstGeom>
          <a:solidFill>
            <a:srgbClr val="1E88E5">
              <a:alpha val="22000"/>
            </a:srgbClr>
          </a:solidFill>
          <a:ln>
            <a:noFill/>
          </a:ln>
        </p:spPr>
        <p:txBody>
          <a:bodyPr/>
          <a:lstStyle/>
          <a:p/>
        </p:txBody>
      </p:sp>
      <p:sp>
        <p:nvSpPr>
          <p:cNvPr id="99" name="circle"/>
          <p:cNvSpPr>
            <a:spLocks noGrp="1"/>
          </p:cNvSpPr>
          <p:nvPr/>
        </p:nvSpPr>
        <p:spPr>
          <a:xfrm>
            <a:off x="0" y="4846320"/>
            <a:ext cx="2743200" cy="2743200"/>
          </a:xfrm>
          <a:prstGeom prst="ellipse">
            <a:avLst/>
          </a:prstGeom>
          <a:solidFill>
            <a:srgbClr val="1A3C7D">
              <a:alpha val="1A000"/>
            </a:srgbClr>
          </a:solidFill>
          <a:ln>
            <a:noFill/>
          </a:ln>
        </p:spPr>
        <p:txBody>
          <a:bodyPr/>
          <a:lstStyle/>
          <a:p/>
        </p:txBody>
      </p:sp>
      <p:sp>
        <p:nvSpPr>
          <p:cNvPr id="99" name="circle"/>
          <p:cNvSpPr>
            <a:spLocks noGrp="1"/>
          </p:cNvSpPr>
          <p:nvPr/>
        </p:nvSpPr>
        <p:spPr>
          <a:xfrm>
            <a:off x="-457200" y="5669280"/>
            <a:ext cx="1828800" cy="1828800"/>
          </a:xfrm>
          <a:prstGeom prst="ellipse">
            <a:avLst/>
          </a:prstGeom>
          <a:solidFill>
            <a:srgbClr val="1E88E5">
              <a:alpha val="1A000"/>
            </a:srgbClr>
          </a:solidFill>
          <a:ln>
            <a:noFill/>
          </a:ln>
        </p:spPr>
        <p:txBody>
          <a:bodyPr/>
          <a:lstStyle/>
          <a:p/>
        </p:txBody>
      </p:sp>
      <p:sp>
        <p:nvSpPr>
          <p:cNvPr id="100" name="Rectangle 99"/>
          <p:cNvSpPr/>
          <p:nvPr/>
        </p:nvSpPr>
        <p:spPr>
          <a:xfrm>
            <a:off x="0" y="0"/>
            <a:ext cx="12188952"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boz_logo_transparent.png"/>
          <p:cNvPicPr>
            <a:picLocks noChangeAspect="1"/>
          </p:cNvPicPr>
          <p:nvPr/>
        </p:nvPicPr>
        <p:blipFill>
          <a:blip r:embed="rId2"/>
          <a:stretch>
            <a:fillRect/>
          </a:stretch>
        </p:blipFill>
        <p:spPr>
          <a:xfrm>
            <a:off x="201168" y="164592"/>
            <a:ext cx="1234440" cy="1234440"/>
          </a:xfrm>
          <a:prstGeom prst="rect">
            <a:avLst/>
          </a:prstGeom>
        </p:spPr>
      </p:pic>
      <p:sp>
        <p:nvSpPr>
          <p:cNvPr id="102" name="Rectangle 101"/>
          <p:cNvSpPr/>
          <p:nvPr/>
        </p:nvSpPr>
        <p:spPr>
          <a:xfrm>
            <a:off x="502920" y="1737360"/>
            <a:ext cx="64008" cy="3200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85800" y="1691640"/>
            <a:ext cx="10515600" cy="1005840"/>
          </a:xfrm>
          <a:prstGeom prst="rect">
            <a:avLst/>
          </a:prstGeom>
          <a:noFill/>
        </p:spPr>
        <p:txBody>
          <a:bodyPr wrap="square">
            <a:spAutoFit/>
          </a:bodyPr>
          <a:lstStyle/>
          <a:p>
            <a:pPr algn="l"/>
            <a:r>
              <a:rPr sz="3600" b="1" i="0">
                <a:solidFill>
                  <a:srgbClr val="FFFFFF"/>
                </a:solidFill>
                <a:latin typeface="Calibri"/>
              </a:rPr>
              <a:t>EXCHANGE RATE DETERMINATION</a:t>
            </a:r>
          </a:p>
        </p:txBody>
      </p:sp>
      <p:sp>
        <p:nvSpPr>
          <p:cNvPr id="104" name="TextBox 103"/>
          <p:cNvSpPr txBox="1"/>
          <p:nvPr/>
        </p:nvSpPr>
        <p:spPr>
          <a:xfrm>
            <a:off x="685800" y="2651760"/>
            <a:ext cx="9144000" cy="548640"/>
          </a:xfrm>
          <a:prstGeom prst="rect">
            <a:avLst/>
          </a:prstGeom>
          <a:noFill/>
        </p:spPr>
        <p:txBody>
          <a:bodyPr wrap="square">
            <a:spAutoFit/>
          </a:bodyPr>
          <a:lstStyle/>
          <a:p>
            <a:pPr algn="l"/>
            <a:r>
              <a:rPr sz="1600" b="0" i="0">
                <a:solidFill>
                  <a:srgbClr val="64B5F6"/>
                </a:solidFill>
                <a:latin typeface="Calibri"/>
              </a:rPr>
              <a:t>ZAMBIA ZMW/USD — STRATEGIC POLICY ANALYSIS</a:t>
            </a:r>
          </a:p>
        </p:txBody>
      </p:sp>
      <p:sp>
        <p:nvSpPr>
          <p:cNvPr id="105" name="Rectangle 104"/>
          <p:cNvSpPr/>
          <p:nvPr/>
        </p:nvSpPr>
        <p:spPr>
          <a:xfrm>
            <a:off x="685800" y="3246120"/>
            <a:ext cx="5029200" cy="228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85800" y="3337560"/>
            <a:ext cx="8686800" cy="777240"/>
          </a:xfrm>
          <a:prstGeom prst="rect">
            <a:avLst/>
          </a:prstGeom>
          <a:noFill/>
        </p:spPr>
        <p:txBody>
          <a:bodyPr wrap="square">
            <a:spAutoFit/>
          </a:bodyPr>
          <a:lstStyle/>
          <a:p>
            <a:pPr algn="l"/>
            <a:r>
              <a:rPr sz="1100" b="0" i="1">
                <a:solidFill>
                  <a:srgbClr val="90A4BE"/>
                </a:solidFill>
                <a:latin typeface="Calibri"/>
              </a:rPr>
              <a:t>A comprehensive analysis of exchange rate policy, purchasing power parity,
currency depreciation trends, and macroeconomic inflation dynamics.</a:t>
            </a:r>
          </a:p>
        </p:txBody>
      </p:sp>
      <p:sp>
        <p:nvSpPr>
          <p:cNvPr id="107" name="Rectangle 106"/>
          <p:cNvSpPr/>
          <p:nvPr/>
        </p:nvSpPr>
        <p:spPr>
          <a:xfrm>
            <a:off x="0" y="5806440"/>
            <a:ext cx="12188952" cy="1051560"/>
          </a:xfrm>
          <a:prstGeom prst="rect">
            <a:avLst/>
          </a:prstGeom>
          <a:solidFill>
            <a:srgbClr val="12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0" y="5806440"/>
            <a:ext cx="12188952" cy="228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02920" y="5897880"/>
            <a:ext cx="2743200" cy="256032"/>
          </a:xfrm>
          <a:prstGeom prst="rect">
            <a:avLst/>
          </a:prstGeom>
          <a:noFill/>
        </p:spPr>
        <p:txBody>
          <a:bodyPr wrap="square">
            <a:spAutoFit/>
          </a:bodyPr>
          <a:lstStyle/>
          <a:p>
            <a:pPr algn="l"/>
            <a:r>
              <a:rPr sz="650" b="0" i="0">
                <a:solidFill>
                  <a:srgbClr val="90A4BE"/>
                </a:solidFill>
                <a:latin typeface="Calibri"/>
              </a:rPr>
              <a:t>PREPARED FOR</a:t>
            </a:r>
          </a:p>
        </p:txBody>
      </p:sp>
      <p:sp>
        <p:nvSpPr>
          <p:cNvPr id="110" name="TextBox 109"/>
          <p:cNvSpPr txBox="1"/>
          <p:nvPr/>
        </p:nvSpPr>
        <p:spPr>
          <a:xfrm>
            <a:off x="502920" y="6144768"/>
            <a:ext cx="2834640" cy="320040"/>
          </a:xfrm>
          <a:prstGeom prst="rect">
            <a:avLst/>
          </a:prstGeom>
          <a:noFill/>
        </p:spPr>
        <p:txBody>
          <a:bodyPr wrap="square">
            <a:spAutoFit/>
          </a:bodyPr>
          <a:lstStyle/>
          <a:p>
            <a:pPr algn="l"/>
            <a:r>
              <a:rPr sz="950" b="1" i="0">
                <a:solidFill>
                  <a:srgbClr val="FFFFFF"/>
                </a:solidFill>
                <a:latin typeface="Calibri"/>
              </a:rPr>
              <a:t>FSi Outsourcing — Executive Leadership</a:t>
            </a:r>
          </a:p>
        </p:txBody>
      </p:sp>
      <p:sp>
        <p:nvSpPr>
          <p:cNvPr id="111" name="TextBox 110"/>
          <p:cNvSpPr txBox="1"/>
          <p:nvPr/>
        </p:nvSpPr>
        <p:spPr>
          <a:xfrm>
            <a:off x="3429000" y="5897880"/>
            <a:ext cx="2743200" cy="256032"/>
          </a:xfrm>
          <a:prstGeom prst="rect">
            <a:avLst/>
          </a:prstGeom>
          <a:noFill/>
        </p:spPr>
        <p:txBody>
          <a:bodyPr wrap="square">
            <a:spAutoFit/>
          </a:bodyPr>
          <a:lstStyle/>
          <a:p>
            <a:pPr algn="l"/>
            <a:r>
              <a:rPr sz="650" b="0" i="0">
                <a:solidFill>
                  <a:srgbClr val="90A4BE"/>
                </a:solidFill>
                <a:latin typeface="Calibri"/>
              </a:rPr>
              <a:t>ANALYSIS PERIOD</a:t>
            </a:r>
          </a:p>
        </p:txBody>
      </p:sp>
      <p:sp>
        <p:nvSpPr>
          <p:cNvPr id="112" name="TextBox 111"/>
          <p:cNvSpPr txBox="1"/>
          <p:nvPr/>
        </p:nvSpPr>
        <p:spPr>
          <a:xfrm>
            <a:off x="3429000" y="6144768"/>
            <a:ext cx="2834640" cy="320040"/>
          </a:xfrm>
          <a:prstGeom prst="rect">
            <a:avLst/>
          </a:prstGeom>
          <a:noFill/>
        </p:spPr>
        <p:txBody>
          <a:bodyPr wrap="square">
            <a:spAutoFit/>
          </a:bodyPr>
          <a:lstStyle/>
          <a:p>
            <a:pPr algn="l"/>
            <a:r>
              <a:rPr sz="950" b="1" i="0">
                <a:solidFill>
                  <a:srgbClr val="FFFFFF"/>
                </a:solidFill>
                <a:latin typeface="Calibri"/>
              </a:rPr>
              <a:t>2015 – 2023</a:t>
            </a:r>
          </a:p>
        </p:txBody>
      </p:sp>
      <p:sp>
        <p:nvSpPr>
          <p:cNvPr id="113" name="TextBox 112"/>
          <p:cNvSpPr txBox="1"/>
          <p:nvPr/>
        </p:nvSpPr>
        <p:spPr>
          <a:xfrm>
            <a:off x="6355080" y="5897880"/>
            <a:ext cx="2743200" cy="256032"/>
          </a:xfrm>
          <a:prstGeom prst="rect">
            <a:avLst/>
          </a:prstGeom>
          <a:noFill/>
        </p:spPr>
        <p:txBody>
          <a:bodyPr wrap="square">
            <a:spAutoFit/>
          </a:bodyPr>
          <a:lstStyle/>
          <a:p>
            <a:pPr algn="l"/>
            <a:r>
              <a:rPr sz="650" b="0" i="0">
                <a:solidFill>
                  <a:srgbClr val="90A4BE"/>
                </a:solidFill>
                <a:latin typeface="Calibri"/>
              </a:rPr>
              <a:t>CLASSIFICATION</a:t>
            </a:r>
          </a:p>
        </p:txBody>
      </p:sp>
      <p:sp>
        <p:nvSpPr>
          <p:cNvPr id="114" name="TextBox 113"/>
          <p:cNvSpPr txBox="1"/>
          <p:nvPr/>
        </p:nvSpPr>
        <p:spPr>
          <a:xfrm>
            <a:off x="6355080" y="6144768"/>
            <a:ext cx="2834640" cy="320040"/>
          </a:xfrm>
          <a:prstGeom prst="rect">
            <a:avLst/>
          </a:prstGeom>
          <a:noFill/>
        </p:spPr>
        <p:txBody>
          <a:bodyPr wrap="square">
            <a:spAutoFit/>
          </a:bodyPr>
          <a:lstStyle/>
          <a:p>
            <a:pPr algn="l"/>
            <a:r>
              <a:rPr sz="950" b="1" i="0">
                <a:solidFill>
                  <a:srgbClr val="FFFFFF"/>
                </a:solidFill>
                <a:latin typeface="Calibri"/>
              </a:rPr>
              <a:t>Internal  |  Confidential</a:t>
            </a:r>
          </a:p>
        </p:txBody>
      </p:sp>
      <p:sp>
        <p:nvSpPr>
          <p:cNvPr id="115" name="TextBox 114"/>
          <p:cNvSpPr txBox="1"/>
          <p:nvPr/>
        </p:nvSpPr>
        <p:spPr>
          <a:xfrm>
            <a:off x="9281160" y="5897880"/>
            <a:ext cx="2743200" cy="256032"/>
          </a:xfrm>
          <a:prstGeom prst="rect">
            <a:avLst/>
          </a:prstGeom>
          <a:noFill/>
        </p:spPr>
        <p:txBody>
          <a:bodyPr wrap="square">
            <a:spAutoFit/>
          </a:bodyPr>
          <a:lstStyle/>
          <a:p>
            <a:pPr algn="l"/>
            <a:r>
              <a:rPr sz="650" b="0" i="0">
                <a:solidFill>
                  <a:srgbClr val="90A4BE"/>
                </a:solidFill>
                <a:latin typeface="Calibri"/>
              </a:rPr>
              <a:t>DATE</a:t>
            </a:r>
          </a:p>
        </p:txBody>
      </p:sp>
      <p:sp>
        <p:nvSpPr>
          <p:cNvPr id="116" name="TextBox 115"/>
          <p:cNvSpPr txBox="1"/>
          <p:nvPr/>
        </p:nvSpPr>
        <p:spPr>
          <a:xfrm>
            <a:off x="9281160" y="6144768"/>
            <a:ext cx="2834640" cy="320040"/>
          </a:xfrm>
          <a:prstGeom prst="rect">
            <a:avLst/>
          </a:prstGeom>
          <a:noFill/>
        </p:spPr>
        <p:txBody>
          <a:bodyPr wrap="square">
            <a:spAutoFit/>
          </a:bodyPr>
          <a:lstStyle/>
          <a:p>
            <a:pPr algn="l"/>
            <a:r>
              <a:rPr sz="950" b="1" i="0">
                <a:solidFill>
                  <a:srgbClr val="FFFFFF"/>
                </a:solidFill>
                <a:latin typeface="Calibri"/>
              </a:rPr>
              <a:t>May 2026</a:t>
            </a:r>
          </a:p>
        </p:txBody>
      </p:sp>
      <p:sp>
        <p:nvSpPr>
          <p:cNvPr id="1" name="RndRect"/>
          <p:cNvSpPr>
            <a:spLocks noGrp="1"/>
          </p:cNvSpPr>
          <p:nvPr/>
        </p:nvSpPr>
        <p:spPr>
          <a:xfrm>
            <a:off x="685800" y="4572000"/>
            <a:ext cx="3200400" cy="914400"/>
          </a:xfrm>
          <a:prstGeom prst="roundRect">
            <a:avLst>
              <a:gd name="adj" fmla="val 8748"/>
            </a:avLst>
          </a:prstGeom>
          <a:solidFill>
            <a:srgbClr val="1A3C7D"/>
          </a:solidFill>
          <a:ln w="12700">
            <a:solidFill>
              <a:srgbClr val="1E88E5"/>
            </a:solidFill>
          </a:ln>
        </p:spPr>
        <p:txBody>
          <a:bodyPr/>
          <a:lstStyle/>
          <a:p/>
        </p:txBody>
      </p:sp>
      <p:sp>
        <p:nvSpPr>
          <p:cNvPr id="117" name="Rectangle 116"/>
          <p:cNvSpPr/>
          <p:nvPr/>
        </p:nvSpPr>
        <p:spPr>
          <a:xfrm>
            <a:off x="704088" y="4572000"/>
            <a:ext cx="45720" cy="914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50392" y="4617720"/>
            <a:ext cx="2926080" cy="502920"/>
          </a:xfrm>
          <a:prstGeom prst="rect">
            <a:avLst/>
          </a:prstGeom>
          <a:noFill/>
        </p:spPr>
        <p:txBody>
          <a:bodyPr wrap="square">
            <a:spAutoFit/>
          </a:bodyPr>
          <a:lstStyle/>
          <a:p>
            <a:pPr algn="l"/>
            <a:r>
              <a:rPr sz="2400" b="1" i="0">
                <a:solidFill>
                  <a:srgbClr val="FFFFFF"/>
                </a:solidFill>
                <a:latin typeface="Calibri"/>
              </a:rPr>
              <a:t>20.89</a:t>
            </a:r>
          </a:p>
        </p:txBody>
      </p:sp>
      <p:sp>
        <p:nvSpPr>
          <p:cNvPr id="119" name="TextBox 118"/>
          <p:cNvSpPr txBox="1"/>
          <p:nvPr/>
        </p:nvSpPr>
        <p:spPr>
          <a:xfrm>
            <a:off x="850392" y="5102352"/>
            <a:ext cx="2926080" cy="320040"/>
          </a:xfrm>
          <a:prstGeom prst="rect">
            <a:avLst/>
          </a:prstGeom>
          <a:noFill/>
        </p:spPr>
        <p:txBody>
          <a:bodyPr wrap="square">
            <a:spAutoFit/>
          </a:bodyPr>
          <a:lstStyle/>
          <a:p>
            <a:pPr algn="l"/>
            <a:r>
              <a:rPr sz="800" b="0" i="0">
                <a:solidFill>
                  <a:srgbClr val="64B5F6"/>
                </a:solidFill>
                <a:latin typeface="Calibri"/>
              </a:rPr>
              <a:t>ZMW/USD — Latest Avg Rate</a:t>
            </a:r>
          </a:p>
        </p:txBody>
      </p:sp>
      <p:sp>
        <p:nvSpPr>
          <p:cNvPr id="1" name="RndRect"/>
          <p:cNvSpPr>
            <a:spLocks noGrp="1"/>
          </p:cNvSpPr>
          <p:nvPr/>
        </p:nvSpPr>
        <p:spPr>
          <a:xfrm>
            <a:off x="4434840" y="4572000"/>
            <a:ext cx="3200400" cy="914400"/>
          </a:xfrm>
          <a:prstGeom prst="roundRect">
            <a:avLst>
              <a:gd name="adj" fmla="val 8748"/>
            </a:avLst>
          </a:prstGeom>
          <a:solidFill>
            <a:srgbClr val="1A3C7D"/>
          </a:solidFill>
          <a:ln w="12700">
            <a:solidFill>
              <a:srgbClr val="1E88E5"/>
            </a:solidFill>
          </a:ln>
        </p:spPr>
        <p:txBody>
          <a:bodyPr/>
          <a:lstStyle/>
          <a:p/>
        </p:txBody>
      </p:sp>
      <p:sp>
        <p:nvSpPr>
          <p:cNvPr id="120" name="Rectangle 119"/>
          <p:cNvSpPr/>
          <p:nvPr/>
        </p:nvSpPr>
        <p:spPr>
          <a:xfrm>
            <a:off x="4453127" y="4572000"/>
            <a:ext cx="45720" cy="914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599431" y="4617720"/>
            <a:ext cx="2926080" cy="502920"/>
          </a:xfrm>
          <a:prstGeom prst="rect">
            <a:avLst/>
          </a:prstGeom>
          <a:noFill/>
        </p:spPr>
        <p:txBody>
          <a:bodyPr wrap="square">
            <a:spAutoFit/>
          </a:bodyPr>
          <a:lstStyle/>
          <a:p>
            <a:pPr algn="l"/>
            <a:r>
              <a:rPr sz="2400" b="1" i="0">
                <a:solidFill>
                  <a:srgbClr val="FFFFFF"/>
                </a:solidFill>
                <a:latin typeface="Calibri"/>
              </a:rPr>
              <a:t>+21.3%</a:t>
            </a:r>
          </a:p>
        </p:txBody>
      </p:sp>
      <p:sp>
        <p:nvSpPr>
          <p:cNvPr id="122" name="TextBox 121"/>
          <p:cNvSpPr txBox="1"/>
          <p:nvPr/>
        </p:nvSpPr>
        <p:spPr>
          <a:xfrm>
            <a:off x="4599431" y="5102352"/>
            <a:ext cx="2926080" cy="320040"/>
          </a:xfrm>
          <a:prstGeom prst="rect">
            <a:avLst/>
          </a:prstGeom>
          <a:noFill/>
        </p:spPr>
        <p:txBody>
          <a:bodyPr wrap="square">
            <a:spAutoFit/>
          </a:bodyPr>
          <a:lstStyle/>
          <a:p>
            <a:pPr algn="l"/>
            <a:r>
              <a:rPr sz="800" b="0" i="0">
                <a:solidFill>
                  <a:srgbClr val="64B5F6"/>
                </a:solidFill>
                <a:latin typeface="Calibri"/>
              </a:rPr>
              <a:t>YoY Currency Depreciation</a:t>
            </a:r>
          </a:p>
        </p:txBody>
      </p:sp>
      <p:sp>
        <p:nvSpPr>
          <p:cNvPr id="1" name="RndRect"/>
          <p:cNvSpPr>
            <a:spLocks noGrp="1"/>
          </p:cNvSpPr>
          <p:nvPr/>
        </p:nvSpPr>
        <p:spPr>
          <a:xfrm>
            <a:off x="8183879" y="4572000"/>
            <a:ext cx="3200400" cy="914400"/>
          </a:xfrm>
          <a:prstGeom prst="roundRect">
            <a:avLst>
              <a:gd name="adj" fmla="val 8748"/>
            </a:avLst>
          </a:prstGeom>
          <a:solidFill>
            <a:srgbClr val="1A3C7D"/>
          </a:solidFill>
          <a:ln w="12700">
            <a:solidFill>
              <a:srgbClr val="1E88E5"/>
            </a:solidFill>
          </a:ln>
        </p:spPr>
        <p:txBody>
          <a:bodyPr/>
          <a:lstStyle/>
          <a:p/>
        </p:txBody>
      </p:sp>
      <p:sp>
        <p:nvSpPr>
          <p:cNvPr id="123" name="Rectangle 122"/>
          <p:cNvSpPr/>
          <p:nvPr/>
        </p:nvSpPr>
        <p:spPr>
          <a:xfrm>
            <a:off x="8202167" y="4572000"/>
            <a:ext cx="45720" cy="914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348471" y="4617720"/>
            <a:ext cx="2926080" cy="502920"/>
          </a:xfrm>
          <a:prstGeom prst="rect">
            <a:avLst/>
          </a:prstGeom>
          <a:noFill/>
        </p:spPr>
        <p:txBody>
          <a:bodyPr wrap="square">
            <a:spAutoFit/>
          </a:bodyPr>
          <a:lstStyle/>
          <a:p>
            <a:pPr algn="l"/>
            <a:r>
              <a:rPr sz="2400" b="1" i="0">
                <a:solidFill>
                  <a:srgbClr val="FFFFFF"/>
                </a:solidFill>
                <a:latin typeface="Calibri"/>
              </a:rPr>
              <a:t>9.4 pp</a:t>
            </a:r>
          </a:p>
        </p:txBody>
      </p:sp>
      <p:sp>
        <p:nvSpPr>
          <p:cNvPr id="125" name="TextBox 124"/>
          <p:cNvSpPr txBox="1"/>
          <p:nvPr/>
        </p:nvSpPr>
        <p:spPr>
          <a:xfrm>
            <a:off x="8348471" y="5102352"/>
            <a:ext cx="2926080" cy="320040"/>
          </a:xfrm>
          <a:prstGeom prst="rect">
            <a:avLst/>
          </a:prstGeom>
          <a:noFill/>
        </p:spPr>
        <p:txBody>
          <a:bodyPr wrap="square">
            <a:spAutoFit/>
          </a:bodyPr>
          <a:lstStyle/>
          <a:p>
            <a:pPr algn="l"/>
            <a:r>
              <a:rPr sz="800" b="0" i="0">
                <a:solidFill>
                  <a:srgbClr val="64B5F6"/>
                </a:solidFill>
                <a:latin typeface="Calibri"/>
              </a:rPr>
              <a:t>Inflation Differential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4008" cy="12801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201168"/>
            <a:ext cx="3657600" cy="502920"/>
          </a:xfrm>
          <a:prstGeom prst="rect">
            <a:avLst/>
          </a:prstGeom>
          <a:noFill/>
        </p:spPr>
        <p:txBody>
          <a:bodyPr wrap="square">
            <a:spAutoFit/>
          </a:bodyPr>
          <a:lstStyle/>
          <a:p>
            <a:pPr algn="l"/>
            <a:r>
              <a:rPr sz="2800" b="1" i="0">
                <a:solidFill>
                  <a:srgbClr val="FFFFFF"/>
                </a:solidFill>
                <a:latin typeface="Calibri"/>
              </a:rPr>
              <a:t>AGENDA</a:t>
            </a:r>
          </a:p>
        </p:txBody>
      </p:sp>
      <p:sp>
        <p:nvSpPr>
          <p:cNvPr id="6" name="TextBox 5"/>
          <p:cNvSpPr txBox="1"/>
          <p:nvPr/>
        </p:nvSpPr>
        <p:spPr>
          <a:xfrm>
            <a:off x="228600" y="731520"/>
            <a:ext cx="9144000" cy="411480"/>
          </a:xfrm>
          <a:prstGeom prst="rect">
            <a:avLst/>
          </a:prstGeom>
          <a:noFill/>
        </p:spPr>
        <p:txBody>
          <a:bodyPr wrap="square">
            <a:spAutoFit/>
          </a:bodyPr>
          <a:lstStyle/>
          <a:p>
            <a:pPr algn="l"/>
            <a:r>
              <a:rPr sz="1000" b="0" i="0">
                <a:solidFill>
                  <a:srgbClr val="64B5F6"/>
                </a:solidFill>
                <a:latin typeface="Calibri"/>
              </a:rPr>
              <a:t>Exchange Rate Determination — Zambia Analysis</a:t>
            </a:r>
          </a:p>
        </p:txBody>
      </p:sp>
      <p:sp>
        <p:nvSpPr>
          <p:cNvPr id="1" name="RndRect"/>
          <p:cNvSpPr>
            <a:spLocks noGrp="1"/>
          </p:cNvSpPr>
          <p:nvPr/>
        </p:nvSpPr>
        <p:spPr>
          <a:xfrm>
            <a:off x="457200" y="1600200"/>
            <a:ext cx="5394960" cy="1965960"/>
          </a:xfrm>
          <a:prstGeom prst="roundRect">
            <a:avLst>
              <a:gd name="adj" fmla="val 5086"/>
            </a:avLst>
          </a:prstGeom>
          <a:solidFill>
            <a:srgbClr val="FFFFFF"/>
          </a:solidFill>
          <a:ln w="19050">
            <a:solidFill>
              <a:srgbClr val="E3EBF6"/>
            </a:solidFill>
          </a:ln>
        </p:spPr>
        <p:txBody>
          <a:bodyPr/>
          <a:lstStyle/>
          <a:p/>
        </p:txBody>
      </p:sp>
      <p:sp>
        <p:nvSpPr>
          <p:cNvPr id="7" name="Rectangle 6"/>
          <p:cNvSpPr/>
          <p:nvPr/>
        </p:nvSpPr>
        <p:spPr>
          <a:xfrm>
            <a:off x="457200" y="1600200"/>
            <a:ext cx="82296" cy="19659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658368" y="1828800"/>
            <a:ext cx="621792" cy="621792"/>
          </a:xfrm>
          <a:prstGeom prst="roundRect">
            <a:avLst>
              <a:gd name="adj" fmla="val 32165"/>
            </a:avLst>
          </a:prstGeom>
          <a:solidFill>
            <a:srgbClr val="1E88E5"/>
          </a:solidFill>
          <a:ln>
            <a:noFill/>
          </a:ln>
        </p:spPr>
        <p:txBody>
          <a:bodyPr/>
          <a:lstStyle/>
          <a:p/>
        </p:txBody>
      </p:sp>
      <p:sp>
        <p:nvSpPr>
          <p:cNvPr id="8" name="TextBox 7"/>
          <p:cNvSpPr txBox="1"/>
          <p:nvPr/>
        </p:nvSpPr>
        <p:spPr>
          <a:xfrm>
            <a:off x="658368" y="1801368"/>
            <a:ext cx="621792" cy="658368"/>
          </a:xfrm>
          <a:prstGeom prst="rect">
            <a:avLst/>
          </a:prstGeom>
          <a:noFill/>
        </p:spPr>
        <p:txBody>
          <a:bodyPr wrap="square">
            <a:spAutoFit/>
          </a:bodyPr>
          <a:lstStyle/>
          <a:p>
            <a:pPr algn="ctr"/>
            <a:r>
              <a:rPr sz="1600" b="1" i="0">
                <a:solidFill>
                  <a:srgbClr val="FFFFFF"/>
                </a:solidFill>
                <a:latin typeface="Calibri"/>
              </a:rPr>
              <a:t>01</a:t>
            </a:r>
          </a:p>
        </p:txBody>
      </p:sp>
      <p:sp>
        <p:nvSpPr>
          <p:cNvPr id="9" name="TextBox 8"/>
          <p:cNvSpPr txBox="1"/>
          <p:nvPr/>
        </p:nvSpPr>
        <p:spPr>
          <a:xfrm>
            <a:off x="1444752" y="1801368"/>
            <a:ext cx="4206240" cy="438912"/>
          </a:xfrm>
          <a:prstGeom prst="rect">
            <a:avLst/>
          </a:prstGeom>
          <a:noFill/>
        </p:spPr>
        <p:txBody>
          <a:bodyPr wrap="square">
            <a:spAutoFit/>
          </a:bodyPr>
          <a:lstStyle/>
          <a:p>
            <a:pPr algn="l"/>
            <a:r>
              <a:rPr sz="1400" b="1" i="0">
                <a:solidFill>
                  <a:srgbClr val="0D1B3E"/>
                </a:solidFill>
                <a:latin typeface="Calibri"/>
              </a:rPr>
              <a:t>Exchange Rate Policy</a:t>
            </a:r>
          </a:p>
        </p:txBody>
      </p:sp>
      <p:sp>
        <p:nvSpPr>
          <p:cNvPr id="10" name="Rectangle 9"/>
          <p:cNvSpPr/>
          <p:nvPr/>
        </p:nvSpPr>
        <p:spPr>
          <a:xfrm>
            <a:off x="1444752" y="2267712"/>
            <a:ext cx="3474720" cy="22860"/>
          </a:xfrm>
          <a:prstGeom prst="rect">
            <a:avLst/>
          </a:prstGeom>
          <a:solidFill>
            <a:srgbClr val="E3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44752" y="2377440"/>
            <a:ext cx="4206240" cy="914400"/>
          </a:xfrm>
          <a:prstGeom prst="rect">
            <a:avLst/>
          </a:prstGeom>
          <a:noFill/>
        </p:spPr>
        <p:txBody>
          <a:bodyPr wrap="square">
            <a:spAutoFit/>
          </a:bodyPr>
          <a:lstStyle/>
          <a:p>
            <a:pPr algn="l"/>
            <a:r>
              <a:rPr sz="950" b="0" i="0">
                <a:solidFill>
                  <a:srgbClr val="90A4BE"/>
                </a:solidFill>
                <a:latin typeface="Calibri"/>
              </a:rPr>
              <a:t>Trend analysis, policy bounds, PPP target, and selling rate KPIs</a:t>
            </a:r>
          </a:p>
        </p:txBody>
      </p:sp>
      <p:sp>
        <p:nvSpPr>
          <p:cNvPr id="1" name="RndRect"/>
          <p:cNvSpPr>
            <a:spLocks noGrp="1"/>
          </p:cNvSpPr>
          <p:nvPr/>
        </p:nvSpPr>
        <p:spPr>
          <a:xfrm>
            <a:off x="6263640" y="1600200"/>
            <a:ext cx="5394960" cy="1965960"/>
          </a:xfrm>
          <a:prstGeom prst="roundRect">
            <a:avLst>
              <a:gd name="adj" fmla="val 5086"/>
            </a:avLst>
          </a:prstGeom>
          <a:solidFill>
            <a:srgbClr val="FFFFFF"/>
          </a:solidFill>
          <a:ln w="19050">
            <a:solidFill>
              <a:srgbClr val="E3EBF6"/>
            </a:solidFill>
          </a:ln>
        </p:spPr>
        <p:txBody>
          <a:bodyPr/>
          <a:lstStyle/>
          <a:p/>
        </p:txBody>
      </p:sp>
      <p:sp>
        <p:nvSpPr>
          <p:cNvPr id="12" name="Rectangle 11"/>
          <p:cNvSpPr/>
          <p:nvPr/>
        </p:nvSpPr>
        <p:spPr>
          <a:xfrm>
            <a:off x="6263640" y="1600200"/>
            <a:ext cx="82296" cy="1965960"/>
          </a:xfrm>
          <a:prstGeom prst="rect">
            <a:avLst/>
          </a:prstGeom>
          <a:solidFill>
            <a:srgbClr val="0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6464807" y="1828800"/>
            <a:ext cx="621792" cy="621792"/>
          </a:xfrm>
          <a:prstGeom prst="roundRect">
            <a:avLst>
              <a:gd name="adj" fmla="val 32165"/>
            </a:avLst>
          </a:prstGeom>
          <a:solidFill>
            <a:srgbClr val="00ACD7"/>
          </a:solidFill>
          <a:ln>
            <a:noFill/>
          </a:ln>
        </p:spPr>
        <p:txBody>
          <a:bodyPr/>
          <a:lstStyle/>
          <a:p/>
        </p:txBody>
      </p:sp>
      <p:sp>
        <p:nvSpPr>
          <p:cNvPr id="13" name="TextBox 12"/>
          <p:cNvSpPr txBox="1"/>
          <p:nvPr/>
        </p:nvSpPr>
        <p:spPr>
          <a:xfrm>
            <a:off x="6464807" y="1801368"/>
            <a:ext cx="621792" cy="658368"/>
          </a:xfrm>
          <a:prstGeom prst="rect">
            <a:avLst/>
          </a:prstGeom>
          <a:noFill/>
        </p:spPr>
        <p:txBody>
          <a:bodyPr wrap="square">
            <a:spAutoFit/>
          </a:bodyPr>
          <a:lstStyle/>
          <a:p>
            <a:pPr algn="ctr"/>
            <a:r>
              <a:rPr sz="1600" b="1" i="0">
                <a:solidFill>
                  <a:srgbClr val="FFFFFF"/>
                </a:solidFill>
                <a:latin typeface="Calibri"/>
              </a:rPr>
              <a:t>02</a:t>
            </a:r>
          </a:p>
        </p:txBody>
      </p:sp>
      <p:sp>
        <p:nvSpPr>
          <p:cNvPr id="14" name="TextBox 13"/>
          <p:cNvSpPr txBox="1"/>
          <p:nvPr/>
        </p:nvSpPr>
        <p:spPr>
          <a:xfrm>
            <a:off x="7251192" y="1801368"/>
            <a:ext cx="4206240" cy="438912"/>
          </a:xfrm>
          <a:prstGeom prst="rect">
            <a:avLst/>
          </a:prstGeom>
          <a:noFill/>
        </p:spPr>
        <p:txBody>
          <a:bodyPr wrap="square">
            <a:spAutoFit/>
          </a:bodyPr>
          <a:lstStyle/>
          <a:p>
            <a:pPr algn="l"/>
            <a:r>
              <a:rPr sz="1400" b="1" i="0">
                <a:solidFill>
                  <a:srgbClr val="0D1B3E"/>
                </a:solidFill>
                <a:latin typeface="Calibri"/>
              </a:rPr>
              <a:t>Depreciation &amp; Bid-Ask Analysis</a:t>
            </a:r>
          </a:p>
        </p:txBody>
      </p:sp>
      <p:sp>
        <p:nvSpPr>
          <p:cNvPr id="15" name="Rectangle 14"/>
          <p:cNvSpPr/>
          <p:nvPr/>
        </p:nvSpPr>
        <p:spPr>
          <a:xfrm>
            <a:off x="7251192" y="2267712"/>
            <a:ext cx="3474720" cy="22860"/>
          </a:xfrm>
          <a:prstGeom prst="rect">
            <a:avLst/>
          </a:prstGeom>
          <a:solidFill>
            <a:srgbClr val="E3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51192" y="2377440"/>
            <a:ext cx="4206240" cy="914400"/>
          </a:xfrm>
          <a:prstGeom prst="rect">
            <a:avLst/>
          </a:prstGeom>
          <a:noFill/>
        </p:spPr>
        <p:txBody>
          <a:bodyPr wrap="square">
            <a:spAutoFit/>
          </a:bodyPr>
          <a:lstStyle/>
          <a:p>
            <a:pPr algn="l"/>
            <a:r>
              <a:rPr sz="950" b="0" i="0">
                <a:solidFill>
                  <a:srgbClr val="90A4BE"/>
                </a:solidFill>
                <a:latin typeface="Calibri"/>
              </a:rPr>
              <a:t>Year-on-year currency depreciation and foreign exchange spread dynamics</a:t>
            </a:r>
          </a:p>
        </p:txBody>
      </p:sp>
      <p:sp>
        <p:nvSpPr>
          <p:cNvPr id="1" name="RndRect"/>
          <p:cNvSpPr>
            <a:spLocks noGrp="1"/>
          </p:cNvSpPr>
          <p:nvPr/>
        </p:nvSpPr>
        <p:spPr>
          <a:xfrm>
            <a:off x="457200" y="3931920"/>
            <a:ext cx="5394960" cy="1965960"/>
          </a:xfrm>
          <a:prstGeom prst="roundRect">
            <a:avLst>
              <a:gd name="adj" fmla="val 5086"/>
            </a:avLst>
          </a:prstGeom>
          <a:solidFill>
            <a:srgbClr val="FFFFFF"/>
          </a:solidFill>
          <a:ln w="19050">
            <a:solidFill>
              <a:srgbClr val="E3EBF6"/>
            </a:solidFill>
          </a:ln>
        </p:spPr>
        <p:txBody>
          <a:bodyPr/>
          <a:lstStyle/>
          <a:p/>
        </p:txBody>
      </p:sp>
      <p:sp>
        <p:nvSpPr>
          <p:cNvPr id="17" name="Rectangle 16"/>
          <p:cNvSpPr/>
          <p:nvPr/>
        </p:nvSpPr>
        <p:spPr>
          <a:xfrm>
            <a:off x="457200" y="3931920"/>
            <a:ext cx="82296" cy="19659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658368" y="4160520"/>
            <a:ext cx="621792" cy="621792"/>
          </a:xfrm>
          <a:prstGeom prst="roundRect">
            <a:avLst>
              <a:gd name="adj" fmla="val 32165"/>
            </a:avLst>
          </a:prstGeom>
          <a:solidFill>
            <a:srgbClr val="F5A623"/>
          </a:solidFill>
          <a:ln>
            <a:noFill/>
          </a:ln>
        </p:spPr>
        <p:txBody>
          <a:bodyPr/>
          <a:lstStyle/>
          <a:p/>
        </p:txBody>
      </p:sp>
      <p:sp>
        <p:nvSpPr>
          <p:cNvPr id="18" name="TextBox 17"/>
          <p:cNvSpPr txBox="1"/>
          <p:nvPr/>
        </p:nvSpPr>
        <p:spPr>
          <a:xfrm>
            <a:off x="658368" y="4133087"/>
            <a:ext cx="621792" cy="658368"/>
          </a:xfrm>
          <a:prstGeom prst="rect">
            <a:avLst/>
          </a:prstGeom>
          <a:noFill/>
        </p:spPr>
        <p:txBody>
          <a:bodyPr wrap="square">
            <a:spAutoFit/>
          </a:bodyPr>
          <a:lstStyle/>
          <a:p>
            <a:pPr algn="ctr"/>
            <a:r>
              <a:rPr sz="1600" b="1" i="0">
                <a:solidFill>
                  <a:srgbClr val="FFFFFF"/>
                </a:solidFill>
                <a:latin typeface="Calibri"/>
              </a:rPr>
              <a:t>03</a:t>
            </a:r>
          </a:p>
        </p:txBody>
      </p:sp>
      <p:sp>
        <p:nvSpPr>
          <p:cNvPr id="19" name="TextBox 18"/>
          <p:cNvSpPr txBox="1"/>
          <p:nvPr/>
        </p:nvSpPr>
        <p:spPr>
          <a:xfrm>
            <a:off x="1444752" y="4133087"/>
            <a:ext cx="4206240" cy="438912"/>
          </a:xfrm>
          <a:prstGeom prst="rect">
            <a:avLst/>
          </a:prstGeom>
          <a:noFill/>
        </p:spPr>
        <p:txBody>
          <a:bodyPr wrap="square">
            <a:spAutoFit/>
          </a:bodyPr>
          <a:lstStyle/>
          <a:p>
            <a:pPr algn="l"/>
            <a:r>
              <a:rPr sz="1400" b="1" i="0">
                <a:solidFill>
                  <a:srgbClr val="0D1B3E"/>
                </a:solidFill>
                <a:latin typeface="Calibri"/>
              </a:rPr>
              <a:t>Inflation Analysis</a:t>
            </a:r>
          </a:p>
        </p:txBody>
      </p:sp>
      <p:sp>
        <p:nvSpPr>
          <p:cNvPr id="20" name="Rectangle 19"/>
          <p:cNvSpPr/>
          <p:nvPr/>
        </p:nvSpPr>
        <p:spPr>
          <a:xfrm>
            <a:off x="1444752" y="4599431"/>
            <a:ext cx="3474720" cy="22860"/>
          </a:xfrm>
          <a:prstGeom prst="rect">
            <a:avLst/>
          </a:prstGeom>
          <a:solidFill>
            <a:srgbClr val="E3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44752" y="4709159"/>
            <a:ext cx="4206240" cy="914400"/>
          </a:xfrm>
          <a:prstGeom prst="rect">
            <a:avLst/>
          </a:prstGeom>
          <a:noFill/>
        </p:spPr>
        <p:txBody>
          <a:bodyPr wrap="square">
            <a:spAutoFit/>
          </a:bodyPr>
          <a:lstStyle/>
          <a:p>
            <a:pPr algn="l"/>
            <a:r>
              <a:rPr sz="950" b="0" i="0">
                <a:solidFill>
                  <a:srgbClr val="90A4BE"/>
                </a:solidFill>
                <a:latin typeface="Calibri"/>
              </a:rPr>
              <a:t>US vs Zambia inflation comparison and differential impact assessment</a:t>
            </a:r>
          </a:p>
        </p:txBody>
      </p:sp>
      <p:sp>
        <p:nvSpPr>
          <p:cNvPr id="1" name="RndRect"/>
          <p:cNvSpPr>
            <a:spLocks noGrp="1"/>
          </p:cNvSpPr>
          <p:nvPr/>
        </p:nvSpPr>
        <p:spPr>
          <a:xfrm>
            <a:off x="6263640" y="3931920"/>
            <a:ext cx="5394960" cy="1965960"/>
          </a:xfrm>
          <a:prstGeom prst="roundRect">
            <a:avLst>
              <a:gd name="adj" fmla="val 5086"/>
            </a:avLst>
          </a:prstGeom>
          <a:solidFill>
            <a:srgbClr val="FFFFFF"/>
          </a:solidFill>
          <a:ln w="19050">
            <a:solidFill>
              <a:srgbClr val="E3EBF6"/>
            </a:solidFill>
          </a:ln>
        </p:spPr>
        <p:txBody>
          <a:bodyPr/>
          <a:lstStyle/>
          <a:p/>
        </p:txBody>
      </p:sp>
      <p:sp>
        <p:nvSpPr>
          <p:cNvPr id="22" name="Rectangle 21"/>
          <p:cNvSpPr/>
          <p:nvPr/>
        </p:nvSpPr>
        <p:spPr>
          <a:xfrm>
            <a:off x="6263640" y="3931920"/>
            <a:ext cx="82296" cy="196596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6464807" y="4160520"/>
            <a:ext cx="621792" cy="621792"/>
          </a:xfrm>
          <a:prstGeom prst="roundRect">
            <a:avLst>
              <a:gd name="adj" fmla="val 32165"/>
            </a:avLst>
          </a:prstGeom>
          <a:solidFill>
            <a:srgbClr val="2ECC71"/>
          </a:solidFill>
          <a:ln>
            <a:noFill/>
          </a:ln>
        </p:spPr>
        <p:txBody>
          <a:bodyPr/>
          <a:lstStyle/>
          <a:p/>
        </p:txBody>
      </p:sp>
      <p:sp>
        <p:nvSpPr>
          <p:cNvPr id="23" name="TextBox 22"/>
          <p:cNvSpPr txBox="1"/>
          <p:nvPr/>
        </p:nvSpPr>
        <p:spPr>
          <a:xfrm>
            <a:off x="6464807" y="4133087"/>
            <a:ext cx="621792" cy="658368"/>
          </a:xfrm>
          <a:prstGeom prst="rect">
            <a:avLst/>
          </a:prstGeom>
          <a:noFill/>
        </p:spPr>
        <p:txBody>
          <a:bodyPr wrap="square">
            <a:spAutoFit/>
          </a:bodyPr>
          <a:lstStyle/>
          <a:p>
            <a:pPr algn="ctr"/>
            <a:r>
              <a:rPr sz="1600" b="1" i="0">
                <a:solidFill>
                  <a:srgbClr val="FFFFFF"/>
                </a:solidFill>
                <a:latin typeface="Calibri"/>
              </a:rPr>
              <a:t>04</a:t>
            </a:r>
          </a:p>
        </p:txBody>
      </p:sp>
      <p:sp>
        <p:nvSpPr>
          <p:cNvPr id="24" name="TextBox 23"/>
          <p:cNvSpPr txBox="1"/>
          <p:nvPr/>
        </p:nvSpPr>
        <p:spPr>
          <a:xfrm>
            <a:off x="7251192" y="4133087"/>
            <a:ext cx="4206240" cy="438912"/>
          </a:xfrm>
          <a:prstGeom prst="rect">
            <a:avLst/>
          </a:prstGeom>
          <a:noFill/>
        </p:spPr>
        <p:txBody>
          <a:bodyPr wrap="square">
            <a:spAutoFit/>
          </a:bodyPr>
          <a:lstStyle/>
          <a:p>
            <a:pPr algn="l"/>
            <a:r>
              <a:rPr sz="1400" b="1" i="0">
                <a:solidFill>
                  <a:srgbClr val="0D1B3E"/>
                </a:solidFill>
                <a:latin typeface="Calibri"/>
              </a:rPr>
              <a:t>Policy Verdict &amp; Recommendations</a:t>
            </a:r>
          </a:p>
        </p:txBody>
      </p:sp>
      <p:sp>
        <p:nvSpPr>
          <p:cNvPr id="25" name="Rectangle 24"/>
          <p:cNvSpPr/>
          <p:nvPr/>
        </p:nvSpPr>
        <p:spPr>
          <a:xfrm>
            <a:off x="7251192" y="4599431"/>
            <a:ext cx="3474720" cy="22860"/>
          </a:xfrm>
          <a:prstGeom prst="rect">
            <a:avLst/>
          </a:prstGeom>
          <a:solidFill>
            <a:srgbClr val="E3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1192" y="4709159"/>
            <a:ext cx="4206240" cy="914400"/>
          </a:xfrm>
          <a:prstGeom prst="rect">
            <a:avLst/>
          </a:prstGeom>
          <a:noFill/>
        </p:spPr>
        <p:txBody>
          <a:bodyPr wrap="square">
            <a:spAutoFit/>
          </a:bodyPr>
          <a:lstStyle/>
          <a:p>
            <a:pPr algn="l"/>
            <a:r>
              <a:rPr sz="950" b="0" i="0">
                <a:solidFill>
                  <a:srgbClr val="90A4BE"/>
                </a:solidFill>
                <a:latin typeface="Calibri"/>
              </a:rPr>
              <a:t>Conclusion on exchange rate alignment and strategic policy direction</a:t>
            </a:r>
          </a:p>
        </p:txBody>
      </p:sp>
      <p:sp>
        <p:nvSpPr>
          <p:cNvPr id="27" name="Rectangle 26"/>
          <p:cNvSpPr/>
          <p:nvPr/>
        </p:nvSpPr>
        <p:spPr>
          <a:xfrm>
            <a:off x="0" y="6537960"/>
            <a:ext cx="12188952" cy="32004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0" y="6556248"/>
            <a:ext cx="12188952" cy="274320"/>
          </a:xfrm>
          <a:prstGeom prst="rect">
            <a:avLst/>
          </a:prstGeom>
          <a:noFill/>
        </p:spPr>
        <p:txBody>
          <a:bodyPr wrap="square">
            <a:spAutoFit/>
          </a:bodyPr>
          <a:lstStyle/>
          <a:p>
            <a:pPr algn="ctr"/>
            <a:r>
              <a:rPr sz="750" b="0" i="0">
                <a:solidFill>
                  <a:srgbClr val="90A4BE"/>
                </a:solidFill>
                <a:latin typeface="Calibri"/>
              </a:rPr>
              <a:t>EXCHANGE RATE DETERMINATION  |  ZAMBIA  |  2015–2023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2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10972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137160"/>
            <a:ext cx="7315200" cy="548640"/>
          </a:xfrm>
          <a:prstGeom prst="rect">
            <a:avLst/>
          </a:prstGeom>
          <a:noFill/>
        </p:spPr>
        <p:txBody>
          <a:bodyPr wrap="square">
            <a:spAutoFit/>
          </a:bodyPr>
          <a:lstStyle/>
          <a:p>
            <a:pPr algn="l"/>
            <a:r>
              <a:rPr sz="2600" b="1" i="0">
                <a:solidFill>
                  <a:srgbClr val="FFFFFF"/>
                </a:solidFill>
                <a:latin typeface="Calibri"/>
              </a:rPr>
              <a:t>EXECUTIVE SUMMARY</a:t>
            </a:r>
          </a:p>
        </p:txBody>
      </p:sp>
      <p:sp>
        <p:nvSpPr>
          <p:cNvPr id="7" name="TextBox 6"/>
          <p:cNvSpPr txBox="1"/>
          <p:nvPr/>
        </p:nvSpPr>
        <p:spPr>
          <a:xfrm>
            <a:off x="201168" y="685800"/>
            <a:ext cx="10058400" cy="347472"/>
          </a:xfrm>
          <a:prstGeom prst="rect">
            <a:avLst/>
          </a:prstGeom>
          <a:noFill/>
        </p:spPr>
        <p:txBody>
          <a:bodyPr wrap="square">
            <a:spAutoFit/>
          </a:bodyPr>
          <a:lstStyle/>
          <a:p>
            <a:pPr algn="l"/>
            <a:r>
              <a:rPr sz="950" b="0" i="0">
                <a:solidFill>
                  <a:srgbClr val="64B5F6"/>
                </a:solidFill>
                <a:latin typeface="Calibri"/>
              </a:rPr>
              <a:t>Key findings across exchange rate, depreciation, inflation, and policy alignment — 2015 to 2023</a:t>
            </a:r>
          </a:p>
        </p:txBody>
      </p:sp>
      <p:sp>
        <p:nvSpPr>
          <p:cNvPr id="1" name="RndRect"/>
          <p:cNvSpPr>
            <a:spLocks noGrp="1"/>
          </p:cNvSpPr>
          <p:nvPr/>
        </p:nvSpPr>
        <p:spPr>
          <a:xfrm>
            <a:off x="256032" y="1261872"/>
            <a:ext cx="2084831" cy="1261872"/>
          </a:xfrm>
          <a:prstGeom prst="roundRect">
            <a:avLst>
              <a:gd name="adj" fmla="val 7924"/>
            </a:avLst>
          </a:prstGeom>
          <a:solidFill>
            <a:srgbClr val="122855"/>
          </a:solidFill>
          <a:ln w="31750">
            <a:solidFill>
              <a:srgbClr val="1E88E5"/>
            </a:solidFill>
          </a:ln>
        </p:spPr>
        <p:txBody>
          <a:bodyPr/>
          <a:lstStyle/>
          <a:p/>
        </p:txBody>
      </p:sp>
      <p:sp>
        <p:nvSpPr>
          <p:cNvPr id="8" name="Rectangle 7"/>
          <p:cNvSpPr/>
          <p:nvPr/>
        </p:nvSpPr>
        <p:spPr>
          <a:xfrm>
            <a:off x="384048" y="1609343"/>
            <a:ext cx="1828799" cy="20116"/>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353312"/>
            <a:ext cx="1828799" cy="256032"/>
          </a:xfrm>
          <a:prstGeom prst="rect">
            <a:avLst/>
          </a:prstGeom>
          <a:noFill/>
        </p:spPr>
        <p:txBody>
          <a:bodyPr wrap="square">
            <a:spAutoFit/>
          </a:bodyPr>
          <a:lstStyle/>
          <a:p>
            <a:pPr algn="ctr"/>
            <a:r>
              <a:rPr sz="750" b="0" i="0">
                <a:solidFill>
                  <a:srgbClr val="64B5F6"/>
                </a:solidFill>
                <a:latin typeface="Calibri"/>
              </a:rPr>
              <a:t>AVG SELLING RATE
(ZMW/USD)</a:t>
            </a:r>
          </a:p>
        </p:txBody>
      </p:sp>
      <p:sp>
        <p:nvSpPr>
          <p:cNvPr id="10" name="TextBox 9"/>
          <p:cNvSpPr txBox="1"/>
          <p:nvPr/>
        </p:nvSpPr>
        <p:spPr>
          <a:xfrm>
            <a:off x="384048" y="1682495"/>
            <a:ext cx="1828799" cy="713232"/>
          </a:xfrm>
          <a:prstGeom prst="rect">
            <a:avLst/>
          </a:prstGeom>
          <a:noFill/>
        </p:spPr>
        <p:txBody>
          <a:bodyPr wrap="square">
            <a:spAutoFit/>
          </a:bodyPr>
          <a:lstStyle/>
          <a:p>
            <a:pPr algn="ctr"/>
            <a:r>
              <a:rPr sz="2200" b="1" i="0">
                <a:solidFill>
                  <a:srgbClr val="FFFFFF"/>
                </a:solidFill>
                <a:latin typeface="Calibri"/>
              </a:rPr>
              <a:t>20.89</a:t>
            </a:r>
          </a:p>
        </p:txBody>
      </p:sp>
      <p:sp>
        <p:nvSpPr>
          <p:cNvPr id="1" name="RndRect"/>
          <p:cNvSpPr>
            <a:spLocks noGrp="1"/>
          </p:cNvSpPr>
          <p:nvPr/>
        </p:nvSpPr>
        <p:spPr>
          <a:xfrm>
            <a:off x="2450591" y="1261872"/>
            <a:ext cx="2084831" cy="1261872"/>
          </a:xfrm>
          <a:prstGeom prst="roundRect">
            <a:avLst>
              <a:gd name="adj" fmla="val 7924"/>
            </a:avLst>
          </a:prstGeom>
          <a:solidFill>
            <a:srgbClr val="122855"/>
          </a:solidFill>
          <a:ln w="31750">
            <a:solidFill>
              <a:srgbClr val="E74C3C"/>
            </a:solidFill>
          </a:ln>
        </p:spPr>
        <p:txBody>
          <a:bodyPr/>
          <a:lstStyle/>
          <a:p/>
        </p:txBody>
      </p:sp>
      <p:sp>
        <p:nvSpPr>
          <p:cNvPr id="11" name="Rectangle 10"/>
          <p:cNvSpPr/>
          <p:nvPr/>
        </p:nvSpPr>
        <p:spPr>
          <a:xfrm>
            <a:off x="2578608" y="1609343"/>
            <a:ext cx="1828799" cy="2011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78608" y="1353312"/>
            <a:ext cx="1828799" cy="256032"/>
          </a:xfrm>
          <a:prstGeom prst="rect">
            <a:avLst/>
          </a:prstGeom>
          <a:noFill/>
        </p:spPr>
        <p:txBody>
          <a:bodyPr wrap="square">
            <a:spAutoFit/>
          </a:bodyPr>
          <a:lstStyle/>
          <a:p>
            <a:pPr algn="ctr"/>
            <a:r>
              <a:rPr sz="750" b="0" i="0">
                <a:solidFill>
                  <a:srgbClr val="64B5F6"/>
                </a:solidFill>
                <a:latin typeface="Calibri"/>
              </a:rPr>
              <a:t>YOY DEPRECIATION</a:t>
            </a:r>
          </a:p>
        </p:txBody>
      </p:sp>
      <p:sp>
        <p:nvSpPr>
          <p:cNvPr id="13" name="TextBox 12"/>
          <p:cNvSpPr txBox="1"/>
          <p:nvPr/>
        </p:nvSpPr>
        <p:spPr>
          <a:xfrm>
            <a:off x="2578608" y="1682495"/>
            <a:ext cx="1828799" cy="713232"/>
          </a:xfrm>
          <a:prstGeom prst="rect">
            <a:avLst/>
          </a:prstGeom>
          <a:noFill/>
        </p:spPr>
        <p:txBody>
          <a:bodyPr wrap="square">
            <a:spAutoFit/>
          </a:bodyPr>
          <a:lstStyle/>
          <a:p>
            <a:pPr algn="ctr"/>
            <a:r>
              <a:rPr sz="2200" b="1" i="0">
                <a:solidFill>
                  <a:srgbClr val="E74C3C"/>
                </a:solidFill>
                <a:latin typeface="Calibri"/>
              </a:rPr>
              <a:t>+21.3%</a:t>
            </a:r>
          </a:p>
        </p:txBody>
      </p:sp>
      <p:sp>
        <p:nvSpPr>
          <p:cNvPr id="14" name="TextBox 13"/>
          <p:cNvSpPr txBox="1"/>
          <p:nvPr/>
        </p:nvSpPr>
        <p:spPr>
          <a:xfrm>
            <a:off x="2578608" y="2286000"/>
            <a:ext cx="1828799" cy="182880"/>
          </a:xfrm>
          <a:prstGeom prst="rect">
            <a:avLst/>
          </a:prstGeom>
          <a:noFill/>
        </p:spPr>
        <p:txBody>
          <a:bodyPr wrap="square">
            <a:spAutoFit/>
          </a:bodyPr>
          <a:lstStyle/>
          <a:p>
            <a:pPr algn="ctr"/>
            <a:r>
              <a:rPr sz="700" b="0" i="0">
                <a:solidFill>
                  <a:srgbClr val="90A4BE"/>
                </a:solidFill>
                <a:latin typeface="Calibri"/>
              </a:rPr>
              <a:t>2023</a:t>
            </a:r>
          </a:p>
        </p:txBody>
      </p:sp>
      <p:sp>
        <p:nvSpPr>
          <p:cNvPr id="1" name="RndRect"/>
          <p:cNvSpPr>
            <a:spLocks noGrp="1"/>
          </p:cNvSpPr>
          <p:nvPr/>
        </p:nvSpPr>
        <p:spPr>
          <a:xfrm>
            <a:off x="4645152" y="1261872"/>
            <a:ext cx="2084831" cy="1261872"/>
          </a:xfrm>
          <a:prstGeom prst="roundRect">
            <a:avLst>
              <a:gd name="adj" fmla="val 7924"/>
            </a:avLst>
          </a:prstGeom>
          <a:solidFill>
            <a:srgbClr val="122855"/>
          </a:solidFill>
          <a:ln w="31750">
            <a:solidFill>
              <a:srgbClr val="F5A623"/>
            </a:solidFill>
          </a:ln>
        </p:spPr>
        <p:txBody>
          <a:bodyPr/>
          <a:lstStyle/>
          <a:p/>
        </p:txBody>
      </p:sp>
      <p:sp>
        <p:nvSpPr>
          <p:cNvPr id="15" name="Rectangle 14"/>
          <p:cNvSpPr/>
          <p:nvPr/>
        </p:nvSpPr>
        <p:spPr>
          <a:xfrm>
            <a:off x="4773168" y="1609343"/>
            <a:ext cx="1828799" cy="2011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1353312"/>
            <a:ext cx="1828799" cy="256032"/>
          </a:xfrm>
          <a:prstGeom prst="rect">
            <a:avLst/>
          </a:prstGeom>
          <a:noFill/>
        </p:spPr>
        <p:txBody>
          <a:bodyPr wrap="square">
            <a:spAutoFit/>
          </a:bodyPr>
          <a:lstStyle/>
          <a:p>
            <a:pPr algn="ctr"/>
            <a:r>
              <a:rPr sz="750" b="0" i="0">
                <a:solidFill>
                  <a:srgbClr val="64B5F6"/>
                </a:solidFill>
                <a:latin typeface="Calibri"/>
              </a:rPr>
              <a:t>BID-ASK SPREAD</a:t>
            </a:r>
          </a:p>
        </p:txBody>
      </p:sp>
      <p:sp>
        <p:nvSpPr>
          <p:cNvPr id="17" name="TextBox 16"/>
          <p:cNvSpPr txBox="1"/>
          <p:nvPr/>
        </p:nvSpPr>
        <p:spPr>
          <a:xfrm>
            <a:off x="4773168" y="1682495"/>
            <a:ext cx="1828799" cy="713232"/>
          </a:xfrm>
          <a:prstGeom prst="rect">
            <a:avLst/>
          </a:prstGeom>
          <a:noFill/>
        </p:spPr>
        <p:txBody>
          <a:bodyPr wrap="square">
            <a:spAutoFit/>
          </a:bodyPr>
          <a:lstStyle/>
          <a:p>
            <a:pPr algn="ctr"/>
            <a:r>
              <a:rPr sz="2200" b="1" i="0">
                <a:solidFill>
                  <a:srgbClr val="F5A623"/>
                </a:solidFill>
                <a:latin typeface="Calibri"/>
              </a:rPr>
              <a:t>3.1%</a:t>
            </a:r>
          </a:p>
        </p:txBody>
      </p:sp>
      <p:sp>
        <p:nvSpPr>
          <p:cNvPr id="18" name="TextBox 17"/>
          <p:cNvSpPr txBox="1"/>
          <p:nvPr/>
        </p:nvSpPr>
        <p:spPr>
          <a:xfrm>
            <a:off x="4773168" y="2286000"/>
            <a:ext cx="1828799" cy="182880"/>
          </a:xfrm>
          <a:prstGeom prst="rect">
            <a:avLst/>
          </a:prstGeom>
          <a:noFill/>
        </p:spPr>
        <p:txBody>
          <a:bodyPr wrap="square">
            <a:spAutoFit/>
          </a:bodyPr>
          <a:lstStyle/>
          <a:p>
            <a:pPr algn="ctr"/>
            <a:r>
              <a:rPr sz="700" b="0" i="0">
                <a:solidFill>
                  <a:srgbClr val="90A4BE"/>
                </a:solidFill>
                <a:latin typeface="Calibri"/>
              </a:rPr>
              <a:t>2023</a:t>
            </a:r>
          </a:p>
        </p:txBody>
      </p:sp>
      <p:sp>
        <p:nvSpPr>
          <p:cNvPr id="1" name="RndRect"/>
          <p:cNvSpPr>
            <a:spLocks noGrp="1"/>
          </p:cNvSpPr>
          <p:nvPr/>
        </p:nvSpPr>
        <p:spPr>
          <a:xfrm>
            <a:off x="6839712" y="1261872"/>
            <a:ext cx="2084831" cy="1261872"/>
          </a:xfrm>
          <a:prstGeom prst="roundRect">
            <a:avLst>
              <a:gd name="adj" fmla="val 7924"/>
            </a:avLst>
          </a:prstGeom>
          <a:solidFill>
            <a:srgbClr val="122855"/>
          </a:solidFill>
          <a:ln w="31750">
            <a:solidFill>
              <a:srgbClr val="F5A623"/>
            </a:solidFill>
          </a:ln>
        </p:spPr>
        <p:txBody>
          <a:bodyPr/>
          <a:lstStyle/>
          <a:p/>
        </p:txBody>
      </p:sp>
      <p:sp>
        <p:nvSpPr>
          <p:cNvPr id="19" name="Rectangle 18"/>
          <p:cNvSpPr/>
          <p:nvPr/>
        </p:nvSpPr>
        <p:spPr>
          <a:xfrm>
            <a:off x="6967727" y="1609343"/>
            <a:ext cx="1828799" cy="2011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7" y="1353312"/>
            <a:ext cx="1828799" cy="256032"/>
          </a:xfrm>
          <a:prstGeom prst="rect">
            <a:avLst/>
          </a:prstGeom>
          <a:noFill/>
        </p:spPr>
        <p:txBody>
          <a:bodyPr wrap="square">
            <a:spAutoFit/>
          </a:bodyPr>
          <a:lstStyle/>
          <a:p>
            <a:pPr algn="ctr"/>
            <a:r>
              <a:rPr sz="750" b="0" i="0">
                <a:solidFill>
                  <a:srgbClr val="64B5F6"/>
                </a:solidFill>
                <a:latin typeface="Calibri"/>
              </a:rPr>
              <a:t>INFLATION DIFF.</a:t>
            </a:r>
          </a:p>
        </p:txBody>
      </p:sp>
      <p:sp>
        <p:nvSpPr>
          <p:cNvPr id="21" name="TextBox 20"/>
          <p:cNvSpPr txBox="1"/>
          <p:nvPr/>
        </p:nvSpPr>
        <p:spPr>
          <a:xfrm>
            <a:off x="6967727" y="1682495"/>
            <a:ext cx="1828799" cy="713232"/>
          </a:xfrm>
          <a:prstGeom prst="rect">
            <a:avLst/>
          </a:prstGeom>
          <a:noFill/>
        </p:spPr>
        <p:txBody>
          <a:bodyPr wrap="square">
            <a:spAutoFit/>
          </a:bodyPr>
          <a:lstStyle/>
          <a:p>
            <a:pPr algn="ctr"/>
            <a:r>
              <a:rPr sz="2200" b="1" i="0">
                <a:solidFill>
                  <a:srgbClr val="F5A623"/>
                </a:solidFill>
                <a:latin typeface="Calibri"/>
              </a:rPr>
              <a:t>9.4 pp</a:t>
            </a:r>
          </a:p>
        </p:txBody>
      </p:sp>
      <p:sp>
        <p:nvSpPr>
          <p:cNvPr id="22" name="TextBox 21"/>
          <p:cNvSpPr txBox="1"/>
          <p:nvPr/>
        </p:nvSpPr>
        <p:spPr>
          <a:xfrm>
            <a:off x="6967727" y="2286000"/>
            <a:ext cx="1828799" cy="182880"/>
          </a:xfrm>
          <a:prstGeom prst="rect">
            <a:avLst/>
          </a:prstGeom>
          <a:noFill/>
        </p:spPr>
        <p:txBody>
          <a:bodyPr wrap="square">
            <a:spAutoFit/>
          </a:bodyPr>
          <a:lstStyle/>
          <a:p>
            <a:pPr algn="ctr"/>
            <a:r>
              <a:rPr sz="700" b="0" i="0">
                <a:solidFill>
                  <a:srgbClr val="90A4BE"/>
                </a:solidFill>
                <a:latin typeface="Calibri"/>
              </a:rPr>
              <a:t>ZM–US</a:t>
            </a:r>
          </a:p>
        </p:txBody>
      </p:sp>
      <p:sp>
        <p:nvSpPr>
          <p:cNvPr id="1" name="RndRect"/>
          <p:cNvSpPr>
            <a:spLocks noGrp="1"/>
          </p:cNvSpPr>
          <p:nvPr/>
        </p:nvSpPr>
        <p:spPr>
          <a:xfrm>
            <a:off x="9034272" y="1261872"/>
            <a:ext cx="2084831" cy="1261872"/>
          </a:xfrm>
          <a:prstGeom prst="roundRect">
            <a:avLst>
              <a:gd name="adj" fmla="val 7924"/>
            </a:avLst>
          </a:prstGeom>
          <a:solidFill>
            <a:srgbClr val="122855"/>
          </a:solidFill>
          <a:ln w="31750">
            <a:solidFill>
              <a:srgbClr val="E74C3C"/>
            </a:solidFill>
          </a:ln>
        </p:spPr>
        <p:txBody>
          <a:bodyPr/>
          <a:lstStyle/>
          <a:p/>
        </p:txBody>
      </p:sp>
      <p:sp>
        <p:nvSpPr>
          <p:cNvPr id="23" name="Rectangle 22"/>
          <p:cNvSpPr/>
          <p:nvPr/>
        </p:nvSpPr>
        <p:spPr>
          <a:xfrm>
            <a:off x="9162288" y="1609343"/>
            <a:ext cx="1828799" cy="2011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62288" y="1353312"/>
            <a:ext cx="1828799" cy="256032"/>
          </a:xfrm>
          <a:prstGeom prst="rect">
            <a:avLst/>
          </a:prstGeom>
          <a:noFill/>
        </p:spPr>
        <p:txBody>
          <a:bodyPr wrap="square">
            <a:spAutoFit/>
          </a:bodyPr>
          <a:lstStyle/>
          <a:p>
            <a:pPr algn="ctr"/>
            <a:r>
              <a:rPr sz="750" b="0" i="0">
                <a:solidFill>
                  <a:srgbClr val="64B5F6"/>
                </a:solidFill>
                <a:latin typeface="Calibri"/>
              </a:rPr>
              <a:t>POLICY VERDICT</a:t>
            </a:r>
          </a:p>
        </p:txBody>
      </p:sp>
      <p:sp>
        <p:nvSpPr>
          <p:cNvPr id="25" name="TextBox 24"/>
          <p:cNvSpPr txBox="1"/>
          <p:nvPr/>
        </p:nvSpPr>
        <p:spPr>
          <a:xfrm>
            <a:off x="9162288" y="1682495"/>
            <a:ext cx="1828799" cy="713232"/>
          </a:xfrm>
          <a:prstGeom prst="rect">
            <a:avLst/>
          </a:prstGeom>
          <a:noFill/>
        </p:spPr>
        <p:txBody>
          <a:bodyPr wrap="square">
            <a:spAutoFit/>
          </a:bodyPr>
          <a:lstStyle/>
          <a:p>
            <a:pPr algn="ctr"/>
            <a:r>
              <a:rPr sz="2200" b="1" i="0">
                <a:solidFill>
                  <a:srgbClr val="E74C3C"/>
                </a:solidFill>
                <a:latin typeface="Calibri"/>
              </a:rPr>
              <a:t>! Pressure</a:t>
            </a:r>
          </a:p>
        </p:txBody>
      </p:sp>
      <p:sp>
        <p:nvSpPr>
          <p:cNvPr id="1" name="RndRect"/>
          <p:cNvSpPr>
            <a:spLocks noGrp="1"/>
          </p:cNvSpPr>
          <p:nvPr/>
        </p:nvSpPr>
        <p:spPr>
          <a:xfrm>
            <a:off x="256032" y="2724912"/>
            <a:ext cx="5669280" cy="3429000"/>
          </a:xfrm>
          <a:prstGeom prst="roundRect">
            <a:avLst>
              <a:gd name="adj" fmla="val 2333"/>
            </a:avLst>
          </a:prstGeom>
          <a:solidFill>
            <a:srgbClr val="122855"/>
          </a:solidFill>
          <a:ln w="12700">
            <a:solidFill>
              <a:srgbClr val="1A3C7D"/>
            </a:solidFill>
          </a:ln>
        </p:spPr>
        <p:txBody>
          <a:bodyPr/>
          <a:lstStyle/>
          <a:p/>
        </p:txBody>
      </p:sp>
      <p:sp>
        <p:nvSpPr>
          <p:cNvPr id="26" name="TextBox 25"/>
          <p:cNvSpPr txBox="1"/>
          <p:nvPr/>
        </p:nvSpPr>
        <p:spPr>
          <a:xfrm>
            <a:off x="457200" y="2816352"/>
            <a:ext cx="5303520" cy="347472"/>
          </a:xfrm>
          <a:prstGeom prst="rect">
            <a:avLst/>
          </a:prstGeom>
          <a:noFill/>
        </p:spPr>
        <p:txBody>
          <a:bodyPr wrap="square">
            <a:spAutoFit/>
          </a:bodyPr>
          <a:lstStyle/>
          <a:p>
            <a:pPr algn="l"/>
            <a:r>
              <a:rPr sz="900" b="1" i="0">
                <a:solidFill>
                  <a:srgbClr val="F5A623"/>
                </a:solidFill>
                <a:latin typeface="Calibri"/>
              </a:rPr>
              <a:t>KEY FINDINGS</a:t>
            </a:r>
          </a:p>
        </p:txBody>
      </p:sp>
      <p:sp>
        <p:nvSpPr>
          <p:cNvPr id="27" name="Rectangle 26"/>
          <p:cNvSpPr/>
          <p:nvPr/>
        </p:nvSpPr>
        <p:spPr>
          <a:xfrm>
            <a:off x="457200" y="3154680"/>
            <a:ext cx="5303520" cy="22860"/>
          </a:xfrm>
          <a:prstGeom prst="rect">
            <a:avLst/>
          </a:prstGeom>
          <a:solidFill>
            <a:srgbClr val="1A3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384048" y="3291840"/>
            <a:ext cx="347472" cy="347472"/>
          </a:xfrm>
          <a:prstGeom prst="roundRect">
            <a:avLst>
              <a:gd name="adj" fmla="val 50000"/>
            </a:avLst>
          </a:prstGeom>
          <a:solidFill>
            <a:srgbClr val="1E88E5"/>
          </a:solidFill>
          <a:ln>
            <a:noFill/>
          </a:ln>
        </p:spPr>
        <p:txBody>
          <a:bodyPr/>
          <a:lstStyle/>
          <a:p/>
        </p:txBody>
      </p:sp>
      <p:sp>
        <p:nvSpPr>
          <p:cNvPr id="28" name="TextBox 27"/>
          <p:cNvSpPr txBox="1"/>
          <p:nvPr/>
        </p:nvSpPr>
        <p:spPr>
          <a:xfrm>
            <a:off x="384048" y="3282696"/>
            <a:ext cx="347472" cy="365760"/>
          </a:xfrm>
          <a:prstGeom prst="rect">
            <a:avLst/>
          </a:prstGeom>
          <a:noFill/>
        </p:spPr>
        <p:txBody>
          <a:bodyPr wrap="square">
            <a:spAutoFit/>
          </a:bodyPr>
          <a:lstStyle/>
          <a:p>
            <a:pPr algn="ctr"/>
            <a:r>
              <a:rPr sz="1000" b="1" i="0">
                <a:solidFill>
                  <a:srgbClr val="FFFFFF"/>
                </a:solidFill>
                <a:latin typeface="Calibri"/>
              </a:rPr>
              <a:t>1</a:t>
            </a:r>
          </a:p>
        </p:txBody>
      </p:sp>
      <p:sp>
        <p:nvSpPr>
          <p:cNvPr id="29" name="TextBox 28"/>
          <p:cNvSpPr txBox="1"/>
          <p:nvPr/>
        </p:nvSpPr>
        <p:spPr>
          <a:xfrm>
            <a:off x="841248" y="3291840"/>
            <a:ext cx="4937760" cy="237744"/>
          </a:xfrm>
          <a:prstGeom prst="rect">
            <a:avLst/>
          </a:prstGeom>
          <a:noFill/>
        </p:spPr>
        <p:txBody>
          <a:bodyPr wrap="square">
            <a:spAutoFit/>
          </a:bodyPr>
          <a:lstStyle/>
          <a:p>
            <a:pPr algn="l"/>
            <a:r>
              <a:rPr sz="850" b="1" i="0">
                <a:solidFill>
                  <a:srgbClr val="FFFFFF"/>
                </a:solidFill>
                <a:latin typeface="Calibri"/>
              </a:rPr>
              <a:t>Exchange Rate Depreciation</a:t>
            </a:r>
          </a:p>
        </p:txBody>
      </p:sp>
      <p:sp>
        <p:nvSpPr>
          <p:cNvPr id="30" name="TextBox 29"/>
          <p:cNvSpPr txBox="1"/>
          <p:nvPr/>
        </p:nvSpPr>
        <p:spPr>
          <a:xfrm>
            <a:off x="841248" y="3520440"/>
            <a:ext cx="4937760" cy="502920"/>
          </a:xfrm>
          <a:prstGeom prst="rect">
            <a:avLst/>
          </a:prstGeom>
          <a:noFill/>
        </p:spPr>
        <p:txBody>
          <a:bodyPr wrap="square">
            <a:spAutoFit/>
          </a:bodyPr>
          <a:lstStyle/>
          <a:p>
            <a:pPr algn="l"/>
            <a:r>
              <a:rPr sz="750" b="0" i="0">
                <a:solidFill>
                  <a:srgbClr val="90A4BE"/>
                </a:solidFill>
                <a:latin typeface="Calibri"/>
              </a:rPr>
              <a:t>The ZMW/USD rate surged from 8.60 in 2015 to 20.89 in 2023 — a cumulative
depreciation of ~143%, exceeding the PPP-implied target rate of 19.50.</a:t>
            </a:r>
          </a:p>
        </p:txBody>
      </p:sp>
      <p:sp>
        <p:nvSpPr>
          <p:cNvPr id="1" name="RndRect"/>
          <p:cNvSpPr>
            <a:spLocks noGrp="1"/>
          </p:cNvSpPr>
          <p:nvPr/>
        </p:nvSpPr>
        <p:spPr>
          <a:xfrm>
            <a:off x="384048" y="4059936"/>
            <a:ext cx="347472" cy="347472"/>
          </a:xfrm>
          <a:prstGeom prst="roundRect">
            <a:avLst>
              <a:gd name="adj" fmla="val 50000"/>
            </a:avLst>
          </a:prstGeom>
          <a:solidFill>
            <a:srgbClr val="1E88E5"/>
          </a:solidFill>
          <a:ln>
            <a:noFill/>
          </a:ln>
        </p:spPr>
        <p:txBody>
          <a:bodyPr/>
          <a:lstStyle/>
          <a:p/>
        </p:txBody>
      </p:sp>
      <p:sp>
        <p:nvSpPr>
          <p:cNvPr id="31" name="TextBox 30"/>
          <p:cNvSpPr txBox="1"/>
          <p:nvPr/>
        </p:nvSpPr>
        <p:spPr>
          <a:xfrm>
            <a:off x="384048" y="4050792"/>
            <a:ext cx="347472" cy="365760"/>
          </a:xfrm>
          <a:prstGeom prst="rect">
            <a:avLst/>
          </a:prstGeom>
          <a:noFill/>
        </p:spPr>
        <p:txBody>
          <a:bodyPr wrap="square">
            <a:spAutoFit/>
          </a:bodyPr>
          <a:lstStyle/>
          <a:p>
            <a:pPr algn="ctr"/>
            <a:r>
              <a:rPr sz="1000" b="1" i="0">
                <a:solidFill>
                  <a:srgbClr val="FFFFFF"/>
                </a:solidFill>
                <a:latin typeface="Calibri"/>
              </a:rPr>
              <a:t>2</a:t>
            </a:r>
          </a:p>
        </p:txBody>
      </p:sp>
      <p:sp>
        <p:nvSpPr>
          <p:cNvPr id="32" name="TextBox 31"/>
          <p:cNvSpPr txBox="1"/>
          <p:nvPr/>
        </p:nvSpPr>
        <p:spPr>
          <a:xfrm>
            <a:off x="841248" y="4059936"/>
            <a:ext cx="4937760" cy="237744"/>
          </a:xfrm>
          <a:prstGeom prst="rect">
            <a:avLst/>
          </a:prstGeom>
          <a:noFill/>
        </p:spPr>
        <p:txBody>
          <a:bodyPr wrap="square">
            <a:spAutoFit/>
          </a:bodyPr>
          <a:lstStyle/>
          <a:p>
            <a:pPr algn="l"/>
            <a:r>
              <a:rPr sz="850" b="1" i="0">
                <a:solidFill>
                  <a:srgbClr val="FFFFFF"/>
                </a:solidFill>
                <a:latin typeface="Calibri"/>
              </a:rPr>
              <a:t>Policy Bound Breach</a:t>
            </a:r>
          </a:p>
        </p:txBody>
      </p:sp>
      <p:sp>
        <p:nvSpPr>
          <p:cNvPr id="33" name="TextBox 32"/>
          <p:cNvSpPr txBox="1"/>
          <p:nvPr/>
        </p:nvSpPr>
        <p:spPr>
          <a:xfrm>
            <a:off x="841248" y="4288536"/>
            <a:ext cx="4937760" cy="502920"/>
          </a:xfrm>
          <a:prstGeom prst="rect">
            <a:avLst/>
          </a:prstGeom>
          <a:noFill/>
        </p:spPr>
        <p:txBody>
          <a:bodyPr wrap="square">
            <a:spAutoFit/>
          </a:bodyPr>
          <a:lstStyle/>
          <a:p>
            <a:pPr algn="l"/>
            <a:r>
              <a:rPr sz="750" b="0" i="0">
                <a:solidFill>
                  <a:srgbClr val="90A4BE"/>
                </a:solidFill>
                <a:latin typeface="Calibri"/>
              </a:rPr>
              <a:t>The 2023 rate of 20.89 ZMW/USD sits ~7.2% below the upper policy bound
(22.98), indicating limited but narrowing headroom.</a:t>
            </a:r>
          </a:p>
        </p:txBody>
      </p:sp>
      <p:sp>
        <p:nvSpPr>
          <p:cNvPr id="1" name="RndRect"/>
          <p:cNvSpPr>
            <a:spLocks noGrp="1"/>
          </p:cNvSpPr>
          <p:nvPr/>
        </p:nvSpPr>
        <p:spPr>
          <a:xfrm>
            <a:off x="384048" y="4828032"/>
            <a:ext cx="347472" cy="347472"/>
          </a:xfrm>
          <a:prstGeom prst="roundRect">
            <a:avLst>
              <a:gd name="adj" fmla="val 50000"/>
            </a:avLst>
          </a:prstGeom>
          <a:solidFill>
            <a:srgbClr val="1E88E5"/>
          </a:solidFill>
          <a:ln>
            <a:noFill/>
          </a:ln>
        </p:spPr>
        <p:txBody>
          <a:bodyPr/>
          <a:lstStyle/>
          <a:p/>
        </p:txBody>
      </p:sp>
      <p:sp>
        <p:nvSpPr>
          <p:cNvPr id="34" name="TextBox 33"/>
          <p:cNvSpPr txBox="1"/>
          <p:nvPr/>
        </p:nvSpPr>
        <p:spPr>
          <a:xfrm>
            <a:off x="384048" y="4818888"/>
            <a:ext cx="347472" cy="365760"/>
          </a:xfrm>
          <a:prstGeom prst="rect">
            <a:avLst/>
          </a:prstGeom>
          <a:noFill/>
        </p:spPr>
        <p:txBody>
          <a:bodyPr wrap="square">
            <a:spAutoFit/>
          </a:bodyPr>
          <a:lstStyle/>
          <a:p>
            <a:pPr algn="ctr"/>
            <a:r>
              <a:rPr sz="1000" b="1" i="0">
                <a:solidFill>
                  <a:srgbClr val="FFFFFF"/>
                </a:solidFill>
                <a:latin typeface="Calibri"/>
              </a:rPr>
              <a:t>3</a:t>
            </a:r>
          </a:p>
        </p:txBody>
      </p:sp>
      <p:sp>
        <p:nvSpPr>
          <p:cNvPr id="35" name="TextBox 34"/>
          <p:cNvSpPr txBox="1"/>
          <p:nvPr/>
        </p:nvSpPr>
        <p:spPr>
          <a:xfrm>
            <a:off x="841248" y="4828032"/>
            <a:ext cx="4937760" cy="237744"/>
          </a:xfrm>
          <a:prstGeom prst="rect">
            <a:avLst/>
          </a:prstGeom>
          <a:noFill/>
        </p:spPr>
        <p:txBody>
          <a:bodyPr wrap="square">
            <a:spAutoFit/>
          </a:bodyPr>
          <a:lstStyle/>
          <a:p>
            <a:pPr algn="l"/>
            <a:r>
              <a:rPr sz="850" b="1" i="0">
                <a:solidFill>
                  <a:srgbClr val="FFFFFF"/>
                </a:solidFill>
                <a:latin typeface="Calibri"/>
              </a:rPr>
              <a:t>Inflation Differential</a:t>
            </a:r>
          </a:p>
        </p:txBody>
      </p:sp>
      <p:sp>
        <p:nvSpPr>
          <p:cNvPr id="36" name="TextBox 35"/>
          <p:cNvSpPr txBox="1"/>
          <p:nvPr/>
        </p:nvSpPr>
        <p:spPr>
          <a:xfrm>
            <a:off x="841248" y="5056632"/>
            <a:ext cx="4937760" cy="502920"/>
          </a:xfrm>
          <a:prstGeom prst="rect">
            <a:avLst/>
          </a:prstGeom>
          <a:noFill/>
        </p:spPr>
        <p:txBody>
          <a:bodyPr wrap="square">
            <a:spAutoFit/>
          </a:bodyPr>
          <a:lstStyle/>
          <a:p>
            <a:pPr algn="l"/>
            <a:r>
              <a:rPr sz="750" b="0" i="0">
                <a:solidFill>
                  <a:srgbClr val="90A4BE"/>
                </a:solidFill>
                <a:latin typeface="Calibri"/>
              </a:rPr>
              <a:t>Zambia's average inflation (13.5%) significantly outpaces US inflation (4.1%),
sustaining persistent depreciation pressure through PPP dynamics.</a:t>
            </a:r>
          </a:p>
        </p:txBody>
      </p:sp>
      <p:sp>
        <p:nvSpPr>
          <p:cNvPr id="1" name="RndRect"/>
          <p:cNvSpPr>
            <a:spLocks noGrp="1"/>
          </p:cNvSpPr>
          <p:nvPr/>
        </p:nvSpPr>
        <p:spPr>
          <a:xfrm>
            <a:off x="384048" y="5596128"/>
            <a:ext cx="347472" cy="347472"/>
          </a:xfrm>
          <a:prstGeom prst="roundRect">
            <a:avLst>
              <a:gd name="adj" fmla="val 50000"/>
            </a:avLst>
          </a:prstGeom>
          <a:solidFill>
            <a:srgbClr val="1E88E5"/>
          </a:solidFill>
          <a:ln>
            <a:noFill/>
          </a:ln>
        </p:spPr>
        <p:txBody>
          <a:bodyPr/>
          <a:lstStyle/>
          <a:p/>
        </p:txBody>
      </p:sp>
      <p:sp>
        <p:nvSpPr>
          <p:cNvPr id="37" name="TextBox 36"/>
          <p:cNvSpPr txBox="1"/>
          <p:nvPr/>
        </p:nvSpPr>
        <p:spPr>
          <a:xfrm>
            <a:off x="384048" y="5586984"/>
            <a:ext cx="347472" cy="365760"/>
          </a:xfrm>
          <a:prstGeom prst="rect">
            <a:avLst/>
          </a:prstGeom>
          <a:noFill/>
        </p:spPr>
        <p:txBody>
          <a:bodyPr wrap="square">
            <a:spAutoFit/>
          </a:bodyPr>
          <a:lstStyle/>
          <a:p>
            <a:pPr algn="ctr"/>
            <a:r>
              <a:rPr sz="1000" b="1" i="0">
                <a:solidFill>
                  <a:srgbClr val="FFFFFF"/>
                </a:solidFill>
                <a:latin typeface="Calibri"/>
              </a:rPr>
              <a:t>4</a:t>
            </a:r>
          </a:p>
        </p:txBody>
      </p:sp>
      <p:sp>
        <p:nvSpPr>
          <p:cNvPr id="38" name="TextBox 37"/>
          <p:cNvSpPr txBox="1"/>
          <p:nvPr/>
        </p:nvSpPr>
        <p:spPr>
          <a:xfrm>
            <a:off x="841248" y="5596128"/>
            <a:ext cx="4937760" cy="237744"/>
          </a:xfrm>
          <a:prstGeom prst="rect">
            <a:avLst/>
          </a:prstGeom>
          <a:noFill/>
        </p:spPr>
        <p:txBody>
          <a:bodyPr wrap="square">
            <a:spAutoFit/>
          </a:bodyPr>
          <a:lstStyle/>
          <a:p>
            <a:pPr algn="l"/>
            <a:r>
              <a:rPr sz="850" b="1" i="0">
                <a:solidFill>
                  <a:srgbClr val="FFFFFF"/>
                </a:solidFill>
                <a:latin typeface="Calibri"/>
              </a:rPr>
              <a:t>Bid-Ask Spread Widening</a:t>
            </a:r>
          </a:p>
        </p:txBody>
      </p:sp>
      <p:sp>
        <p:nvSpPr>
          <p:cNvPr id="39" name="TextBox 38"/>
          <p:cNvSpPr txBox="1"/>
          <p:nvPr/>
        </p:nvSpPr>
        <p:spPr>
          <a:xfrm>
            <a:off x="841248" y="5824728"/>
            <a:ext cx="4937760" cy="502920"/>
          </a:xfrm>
          <a:prstGeom prst="rect">
            <a:avLst/>
          </a:prstGeom>
          <a:noFill/>
        </p:spPr>
        <p:txBody>
          <a:bodyPr wrap="square">
            <a:spAutoFit/>
          </a:bodyPr>
          <a:lstStyle/>
          <a:p>
            <a:pPr algn="l"/>
            <a:r>
              <a:rPr sz="750" b="0" i="0">
                <a:solidFill>
                  <a:srgbClr val="90A4BE"/>
                </a:solidFill>
                <a:latin typeface="Calibri"/>
              </a:rPr>
              <a:t>The bid-ask spread widened from 1.8% (2015) to 3.1% (2023), signalling
reduced FX market liquidity and elevated transaction costs.</a:t>
            </a:r>
          </a:p>
        </p:txBody>
      </p:sp>
      <p:sp>
        <p:nvSpPr>
          <p:cNvPr id="1" name="RndRect"/>
          <p:cNvSpPr>
            <a:spLocks noGrp="1"/>
          </p:cNvSpPr>
          <p:nvPr/>
        </p:nvSpPr>
        <p:spPr>
          <a:xfrm>
            <a:off x="6144768" y="2724912"/>
            <a:ext cx="5833872" cy="3429000"/>
          </a:xfrm>
          <a:prstGeom prst="roundRect">
            <a:avLst>
              <a:gd name="adj" fmla="val 2333"/>
            </a:avLst>
          </a:prstGeom>
          <a:solidFill>
            <a:srgbClr val="122855"/>
          </a:solidFill>
          <a:ln w="12700">
            <a:solidFill>
              <a:srgbClr val="1A3C7D"/>
            </a:solidFill>
          </a:ln>
        </p:spPr>
        <p:txBody>
          <a:bodyPr/>
          <a:lstStyle/>
          <a:p/>
        </p:txBody>
      </p:sp>
      <p:pic>
        <p:nvPicPr>
          <p:cNvPr id="40" name="Picture 39" descr="image.png"/>
          <p:cNvPicPr>
            <a:picLocks noChangeAspect="1"/>
          </p:cNvPicPr>
          <p:nvPr/>
        </p:nvPicPr>
        <p:blipFill>
          <a:blip r:embed="rId2"/>
          <a:stretch>
            <a:fillRect/>
          </a:stretch>
        </p:blipFill>
        <p:spPr>
          <a:xfrm>
            <a:off x="6263640" y="2834640"/>
            <a:ext cx="5577840" cy="3154680"/>
          </a:xfrm>
          <a:prstGeom prst="rect">
            <a:avLst/>
          </a:prstGeom>
        </p:spPr>
      </p:pic>
      <p:sp>
        <p:nvSpPr>
          <p:cNvPr id="41" name="Rectangle 40"/>
          <p:cNvSpPr/>
          <p:nvPr/>
        </p:nvSpPr>
        <p:spPr>
          <a:xfrm>
            <a:off x="0" y="6537960"/>
            <a:ext cx="12188952" cy="320040"/>
          </a:xfrm>
          <a:prstGeom prst="rect">
            <a:avLst/>
          </a:prstGeom>
          <a:solidFill>
            <a:srgbClr val="12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0" y="6556248"/>
            <a:ext cx="12188952" cy="274320"/>
          </a:xfrm>
          <a:prstGeom prst="rect">
            <a:avLst/>
          </a:prstGeom>
          <a:noFill/>
        </p:spPr>
        <p:txBody>
          <a:bodyPr wrap="square">
            <a:spAutoFit/>
          </a:bodyPr>
          <a:lstStyle/>
          <a:p>
            <a:pPr algn="ctr"/>
            <a:r>
              <a:rPr sz="700" b="0" i="0">
                <a:solidFill>
                  <a:srgbClr val="90A4BE"/>
                </a:solidFill>
                <a:latin typeface="Calibri"/>
              </a:rPr>
              <a:t>EXCHANGE RATE DETERMINATION  |  EXECUTIVE SUMMARY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24128"/>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10241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164592" y="164592"/>
            <a:ext cx="502920" cy="502920"/>
          </a:xfrm>
          <a:prstGeom prst="roundRect">
            <a:avLst>
              <a:gd name="adj" fmla="val 39767"/>
            </a:avLst>
          </a:prstGeom>
          <a:solidFill>
            <a:srgbClr val="1E88E5"/>
          </a:solidFill>
          <a:ln>
            <a:noFill/>
          </a:ln>
        </p:spPr>
        <p:txBody>
          <a:bodyPr/>
          <a:lstStyle/>
          <a:p/>
        </p:txBody>
      </p:sp>
      <p:sp>
        <p:nvSpPr>
          <p:cNvPr id="5" name="TextBox 4"/>
          <p:cNvSpPr txBox="1"/>
          <p:nvPr/>
        </p:nvSpPr>
        <p:spPr>
          <a:xfrm>
            <a:off x="164592" y="137160"/>
            <a:ext cx="502920" cy="548640"/>
          </a:xfrm>
          <a:prstGeom prst="rect">
            <a:avLst/>
          </a:prstGeom>
          <a:noFill/>
        </p:spPr>
        <p:txBody>
          <a:bodyPr wrap="square">
            <a:spAutoFit/>
          </a:bodyPr>
          <a:lstStyle/>
          <a:p>
            <a:pPr algn="ctr"/>
            <a:r>
              <a:rPr sz="1600" b="1" i="0">
                <a:solidFill>
                  <a:srgbClr val="FFFFFF"/>
                </a:solidFill>
                <a:latin typeface="Calibri"/>
              </a:rPr>
              <a:t>01</a:t>
            </a:r>
          </a:p>
        </p:txBody>
      </p:sp>
      <p:sp>
        <p:nvSpPr>
          <p:cNvPr id="6" name="TextBox 5"/>
          <p:cNvSpPr txBox="1"/>
          <p:nvPr/>
        </p:nvSpPr>
        <p:spPr>
          <a:xfrm>
            <a:off x="777240" y="91440"/>
            <a:ext cx="8686800" cy="502920"/>
          </a:xfrm>
          <a:prstGeom prst="rect">
            <a:avLst/>
          </a:prstGeom>
          <a:noFill/>
        </p:spPr>
        <p:txBody>
          <a:bodyPr wrap="square">
            <a:spAutoFit/>
          </a:bodyPr>
          <a:lstStyle/>
          <a:p>
            <a:pPr algn="l"/>
            <a:r>
              <a:rPr sz="2000" b="1" i="0">
                <a:solidFill>
                  <a:srgbClr val="FFFFFF"/>
                </a:solidFill>
                <a:latin typeface="Calibri"/>
              </a:rPr>
              <a:t>EXCHANGE RATE POLICY</a:t>
            </a:r>
          </a:p>
        </p:txBody>
      </p:sp>
      <p:sp>
        <p:nvSpPr>
          <p:cNvPr id="7" name="TextBox 6"/>
          <p:cNvSpPr txBox="1"/>
          <p:nvPr/>
        </p:nvSpPr>
        <p:spPr>
          <a:xfrm>
            <a:off x="777240" y="566928"/>
            <a:ext cx="8686800" cy="320040"/>
          </a:xfrm>
          <a:prstGeom prst="rect">
            <a:avLst/>
          </a:prstGeom>
          <a:noFill/>
        </p:spPr>
        <p:txBody>
          <a:bodyPr wrap="square">
            <a:spAutoFit/>
          </a:bodyPr>
          <a:lstStyle/>
          <a:p>
            <a:pPr algn="l"/>
            <a:r>
              <a:rPr sz="900" b="0" i="0">
                <a:solidFill>
                  <a:srgbClr val="64B5F6"/>
                </a:solidFill>
                <a:latin typeface="Calibri"/>
              </a:rPr>
              <a:t>Trend Analysis  ·  Policy Bounds  ·  PPP Target Rate  ·  2015–2023</a:t>
            </a:r>
          </a:p>
        </p:txBody>
      </p:sp>
      <p:sp>
        <p:nvSpPr>
          <p:cNvPr id="8" name="TextBox 7"/>
          <p:cNvSpPr txBox="1"/>
          <p:nvPr/>
        </p:nvSpPr>
        <p:spPr>
          <a:xfrm>
            <a:off x="9601200" y="347472"/>
            <a:ext cx="2468880" cy="320040"/>
          </a:xfrm>
          <a:prstGeom prst="rect">
            <a:avLst/>
          </a:prstGeom>
          <a:noFill/>
        </p:spPr>
        <p:txBody>
          <a:bodyPr wrap="square">
            <a:spAutoFit/>
          </a:bodyPr>
          <a:lstStyle/>
          <a:p>
            <a:pPr algn="r"/>
            <a:r>
              <a:rPr sz="650" b="0" i="0">
                <a:solidFill>
                  <a:srgbClr val="90A4BE"/>
                </a:solidFill>
                <a:latin typeface="Calibri"/>
              </a:rPr>
              <a:t>EXCHANGE RATE DETERMINATION | ZAMBIA</a:t>
            </a:r>
          </a:p>
        </p:txBody>
      </p:sp>
      <p:sp>
        <p:nvSpPr>
          <p:cNvPr id="1" name="RndRect"/>
          <p:cNvSpPr>
            <a:spLocks noGrp="1"/>
          </p:cNvSpPr>
          <p:nvPr/>
        </p:nvSpPr>
        <p:spPr>
          <a:xfrm>
            <a:off x="256032" y="1170432"/>
            <a:ext cx="2761488" cy="1325880"/>
          </a:xfrm>
          <a:prstGeom prst="roundRect">
            <a:avLst>
              <a:gd name="adj" fmla="val 7542"/>
            </a:avLst>
          </a:prstGeom>
          <a:solidFill>
            <a:srgbClr val="122855"/>
          </a:solidFill>
          <a:ln w="31750">
            <a:solidFill>
              <a:srgbClr val="1E88E5"/>
            </a:solidFill>
          </a:ln>
        </p:spPr>
        <p:txBody>
          <a:bodyPr/>
          <a:lstStyle/>
          <a:p/>
        </p:txBody>
      </p:sp>
      <p:sp>
        <p:nvSpPr>
          <p:cNvPr id="9" name="Rectangle 8"/>
          <p:cNvSpPr/>
          <p:nvPr/>
        </p:nvSpPr>
        <p:spPr>
          <a:xfrm>
            <a:off x="384048" y="1517904"/>
            <a:ext cx="2505456" cy="20116"/>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261872"/>
            <a:ext cx="2505456" cy="256032"/>
          </a:xfrm>
          <a:prstGeom prst="rect">
            <a:avLst/>
          </a:prstGeom>
          <a:noFill/>
        </p:spPr>
        <p:txBody>
          <a:bodyPr wrap="square">
            <a:spAutoFit/>
          </a:bodyPr>
          <a:lstStyle/>
          <a:p>
            <a:pPr algn="ctr"/>
            <a:r>
              <a:rPr sz="750" b="0" i="0">
                <a:solidFill>
                  <a:srgbClr val="64B5F6"/>
                </a:solidFill>
                <a:latin typeface="Calibri"/>
              </a:rPr>
              <a:t>AVG SELLING RATE</a:t>
            </a:r>
          </a:p>
        </p:txBody>
      </p:sp>
      <p:sp>
        <p:nvSpPr>
          <p:cNvPr id="11" name="TextBox 10"/>
          <p:cNvSpPr txBox="1"/>
          <p:nvPr/>
        </p:nvSpPr>
        <p:spPr>
          <a:xfrm>
            <a:off x="384048" y="1591056"/>
            <a:ext cx="2505456" cy="777239"/>
          </a:xfrm>
          <a:prstGeom prst="rect">
            <a:avLst/>
          </a:prstGeom>
          <a:noFill/>
        </p:spPr>
        <p:txBody>
          <a:bodyPr wrap="square">
            <a:spAutoFit/>
          </a:bodyPr>
          <a:lstStyle/>
          <a:p>
            <a:pPr algn="ctr"/>
            <a:r>
              <a:rPr sz="2200" b="1" i="0">
                <a:solidFill>
                  <a:srgbClr val="FFFFFF"/>
                </a:solidFill>
                <a:latin typeface="Calibri"/>
              </a:rPr>
              <a:t>20.89</a:t>
            </a:r>
          </a:p>
        </p:txBody>
      </p:sp>
      <p:sp>
        <p:nvSpPr>
          <p:cNvPr id="12" name="TextBox 11"/>
          <p:cNvSpPr txBox="1"/>
          <p:nvPr/>
        </p:nvSpPr>
        <p:spPr>
          <a:xfrm>
            <a:off x="384048" y="2258568"/>
            <a:ext cx="2505456" cy="182880"/>
          </a:xfrm>
          <a:prstGeom prst="rect">
            <a:avLst/>
          </a:prstGeom>
          <a:noFill/>
        </p:spPr>
        <p:txBody>
          <a:bodyPr wrap="square">
            <a:spAutoFit/>
          </a:bodyPr>
          <a:lstStyle/>
          <a:p>
            <a:pPr algn="ctr"/>
            <a:r>
              <a:rPr sz="700" b="0" i="0">
                <a:solidFill>
                  <a:srgbClr val="90A4BE"/>
                </a:solidFill>
                <a:latin typeface="Calibri"/>
              </a:rPr>
              <a:t>ZMW/USD</a:t>
            </a:r>
          </a:p>
        </p:txBody>
      </p:sp>
      <p:sp>
        <p:nvSpPr>
          <p:cNvPr id="1" name="RndRect"/>
          <p:cNvSpPr>
            <a:spLocks noGrp="1"/>
          </p:cNvSpPr>
          <p:nvPr/>
        </p:nvSpPr>
        <p:spPr>
          <a:xfrm>
            <a:off x="3163824" y="1170432"/>
            <a:ext cx="2761488" cy="1325880"/>
          </a:xfrm>
          <a:prstGeom prst="roundRect">
            <a:avLst>
              <a:gd name="adj" fmla="val 7542"/>
            </a:avLst>
          </a:prstGeom>
          <a:solidFill>
            <a:srgbClr val="122855"/>
          </a:solidFill>
          <a:ln w="31750">
            <a:solidFill>
              <a:srgbClr val="00ACD7"/>
            </a:solidFill>
          </a:ln>
        </p:spPr>
        <p:txBody>
          <a:bodyPr/>
          <a:lstStyle/>
          <a:p/>
        </p:txBody>
      </p:sp>
      <p:sp>
        <p:nvSpPr>
          <p:cNvPr id="13" name="Rectangle 12"/>
          <p:cNvSpPr/>
          <p:nvPr/>
        </p:nvSpPr>
        <p:spPr>
          <a:xfrm>
            <a:off x="3291840" y="1517904"/>
            <a:ext cx="2505456" cy="20116"/>
          </a:xfrm>
          <a:prstGeom prst="rect">
            <a:avLst/>
          </a:prstGeom>
          <a:solidFill>
            <a:srgbClr val="0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1261872"/>
            <a:ext cx="2505456" cy="256032"/>
          </a:xfrm>
          <a:prstGeom prst="rect">
            <a:avLst/>
          </a:prstGeom>
          <a:noFill/>
        </p:spPr>
        <p:txBody>
          <a:bodyPr wrap="square">
            <a:spAutoFit/>
          </a:bodyPr>
          <a:lstStyle/>
          <a:p>
            <a:pPr algn="ctr"/>
            <a:r>
              <a:rPr sz="750" b="0" i="0">
                <a:solidFill>
                  <a:srgbClr val="64B5F6"/>
                </a:solidFill>
                <a:latin typeface="Calibri"/>
              </a:rPr>
              <a:t>PPP TARGET RATE</a:t>
            </a:r>
          </a:p>
        </p:txBody>
      </p:sp>
      <p:sp>
        <p:nvSpPr>
          <p:cNvPr id="15" name="TextBox 14"/>
          <p:cNvSpPr txBox="1"/>
          <p:nvPr/>
        </p:nvSpPr>
        <p:spPr>
          <a:xfrm>
            <a:off x="3291840" y="1591056"/>
            <a:ext cx="2505456" cy="777239"/>
          </a:xfrm>
          <a:prstGeom prst="rect">
            <a:avLst/>
          </a:prstGeom>
          <a:noFill/>
        </p:spPr>
        <p:txBody>
          <a:bodyPr wrap="square">
            <a:spAutoFit/>
          </a:bodyPr>
          <a:lstStyle/>
          <a:p>
            <a:pPr algn="ctr"/>
            <a:r>
              <a:rPr sz="2200" b="1" i="0">
                <a:solidFill>
                  <a:srgbClr val="64B5F6"/>
                </a:solidFill>
                <a:latin typeface="Calibri"/>
              </a:rPr>
              <a:t>19.50</a:t>
            </a:r>
          </a:p>
        </p:txBody>
      </p:sp>
      <p:sp>
        <p:nvSpPr>
          <p:cNvPr id="16" name="TextBox 15"/>
          <p:cNvSpPr txBox="1"/>
          <p:nvPr/>
        </p:nvSpPr>
        <p:spPr>
          <a:xfrm>
            <a:off x="3291840" y="2258568"/>
            <a:ext cx="2505456" cy="182880"/>
          </a:xfrm>
          <a:prstGeom prst="rect">
            <a:avLst/>
          </a:prstGeom>
          <a:noFill/>
        </p:spPr>
        <p:txBody>
          <a:bodyPr wrap="square">
            <a:spAutoFit/>
          </a:bodyPr>
          <a:lstStyle/>
          <a:p>
            <a:pPr algn="ctr"/>
            <a:r>
              <a:rPr sz="700" b="0" i="0">
                <a:solidFill>
                  <a:srgbClr val="90A4BE"/>
                </a:solidFill>
                <a:latin typeface="Calibri"/>
              </a:rPr>
              <a:t>ZMW/USD</a:t>
            </a:r>
          </a:p>
        </p:txBody>
      </p:sp>
      <p:sp>
        <p:nvSpPr>
          <p:cNvPr id="1" name="RndRect"/>
          <p:cNvSpPr>
            <a:spLocks noGrp="1"/>
          </p:cNvSpPr>
          <p:nvPr/>
        </p:nvSpPr>
        <p:spPr>
          <a:xfrm>
            <a:off x="6071616" y="1170432"/>
            <a:ext cx="2761488" cy="1325880"/>
          </a:xfrm>
          <a:prstGeom prst="roundRect">
            <a:avLst>
              <a:gd name="adj" fmla="val 7542"/>
            </a:avLst>
          </a:prstGeom>
          <a:solidFill>
            <a:srgbClr val="122855"/>
          </a:solidFill>
          <a:ln w="31750">
            <a:solidFill>
              <a:srgbClr val="E74C3C"/>
            </a:solidFill>
          </a:ln>
        </p:spPr>
        <p:txBody>
          <a:bodyPr/>
          <a:lstStyle/>
          <a:p/>
        </p:txBody>
      </p:sp>
      <p:sp>
        <p:nvSpPr>
          <p:cNvPr id="17" name="Rectangle 16"/>
          <p:cNvSpPr/>
          <p:nvPr/>
        </p:nvSpPr>
        <p:spPr>
          <a:xfrm>
            <a:off x="6199632" y="1517904"/>
            <a:ext cx="2505456" cy="2011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9632" y="1261872"/>
            <a:ext cx="2505456" cy="256032"/>
          </a:xfrm>
          <a:prstGeom prst="rect">
            <a:avLst/>
          </a:prstGeom>
          <a:noFill/>
        </p:spPr>
        <p:txBody>
          <a:bodyPr wrap="square">
            <a:spAutoFit/>
          </a:bodyPr>
          <a:lstStyle/>
          <a:p>
            <a:pPr algn="ctr"/>
            <a:r>
              <a:rPr sz="750" b="0" i="0">
                <a:solidFill>
                  <a:srgbClr val="64B5F6"/>
                </a:solidFill>
                <a:latin typeface="Calibri"/>
              </a:rPr>
              <a:t>POLICY VARIANCE</a:t>
            </a:r>
          </a:p>
        </p:txBody>
      </p:sp>
      <p:sp>
        <p:nvSpPr>
          <p:cNvPr id="19" name="TextBox 18"/>
          <p:cNvSpPr txBox="1"/>
          <p:nvPr/>
        </p:nvSpPr>
        <p:spPr>
          <a:xfrm>
            <a:off x="6199632" y="1591056"/>
            <a:ext cx="2505456" cy="777239"/>
          </a:xfrm>
          <a:prstGeom prst="rect">
            <a:avLst/>
          </a:prstGeom>
          <a:noFill/>
        </p:spPr>
        <p:txBody>
          <a:bodyPr wrap="square">
            <a:spAutoFit/>
          </a:bodyPr>
          <a:lstStyle/>
          <a:p>
            <a:pPr algn="ctr"/>
            <a:r>
              <a:rPr sz="2200" b="1" i="0">
                <a:solidFill>
                  <a:srgbClr val="E74C3C"/>
                </a:solidFill>
                <a:latin typeface="Calibri"/>
              </a:rPr>
              <a:t>-9.1%</a:t>
            </a:r>
          </a:p>
        </p:txBody>
      </p:sp>
      <p:sp>
        <p:nvSpPr>
          <p:cNvPr id="20" name="TextBox 19"/>
          <p:cNvSpPr txBox="1"/>
          <p:nvPr/>
        </p:nvSpPr>
        <p:spPr>
          <a:xfrm>
            <a:off x="6199632" y="2258568"/>
            <a:ext cx="2505456" cy="182880"/>
          </a:xfrm>
          <a:prstGeom prst="rect">
            <a:avLst/>
          </a:prstGeom>
          <a:noFill/>
        </p:spPr>
        <p:txBody>
          <a:bodyPr wrap="square">
            <a:spAutoFit/>
          </a:bodyPr>
          <a:lstStyle/>
          <a:p>
            <a:pPr algn="ctr"/>
            <a:r>
              <a:rPr sz="700" b="0" i="0">
                <a:solidFill>
                  <a:srgbClr val="90A4BE"/>
                </a:solidFill>
                <a:latin typeface="Calibri"/>
              </a:rPr>
              <a:t>vs Upper Bound</a:t>
            </a:r>
          </a:p>
        </p:txBody>
      </p:sp>
      <p:sp>
        <p:nvSpPr>
          <p:cNvPr id="1" name="RndRect"/>
          <p:cNvSpPr>
            <a:spLocks noGrp="1"/>
          </p:cNvSpPr>
          <p:nvPr/>
        </p:nvSpPr>
        <p:spPr>
          <a:xfrm>
            <a:off x="8979408" y="1170432"/>
            <a:ext cx="2761488" cy="1325880"/>
          </a:xfrm>
          <a:prstGeom prst="roundRect">
            <a:avLst>
              <a:gd name="adj" fmla="val 7542"/>
            </a:avLst>
          </a:prstGeom>
          <a:solidFill>
            <a:srgbClr val="122855"/>
          </a:solidFill>
          <a:ln w="31750">
            <a:solidFill>
              <a:srgbClr val="1A3C7D"/>
            </a:solidFill>
          </a:ln>
        </p:spPr>
        <p:txBody>
          <a:bodyPr/>
          <a:lstStyle/>
          <a:p/>
        </p:txBody>
      </p:sp>
      <p:sp>
        <p:nvSpPr>
          <p:cNvPr id="21" name="Rectangle 20"/>
          <p:cNvSpPr/>
          <p:nvPr/>
        </p:nvSpPr>
        <p:spPr>
          <a:xfrm>
            <a:off x="9107424" y="1517904"/>
            <a:ext cx="2505456" cy="20116"/>
          </a:xfrm>
          <a:prstGeom prst="rect">
            <a:avLst/>
          </a:prstGeom>
          <a:solidFill>
            <a:srgbClr val="1A3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07424" y="1261872"/>
            <a:ext cx="2505456" cy="256032"/>
          </a:xfrm>
          <a:prstGeom prst="rect">
            <a:avLst/>
          </a:prstGeom>
          <a:noFill/>
        </p:spPr>
        <p:txBody>
          <a:bodyPr wrap="square">
            <a:spAutoFit/>
          </a:bodyPr>
          <a:lstStyle/>
          <a:p>
            <a:pPr algn="ctr"/>
            <a:r>
              <a:rPr sz="750" b="0" i="0">
                <a:solidFill>
                  <a:srgbClr val="64B5F6"/>
                </a:solidFill>
                <a:latin typeface="Calibri"/>
              </a:rPr>
              <a:t>UPPER BOUND</a:t>
            </a:r>
          </a:p>
        </p:txBody>
      </p:sp>
      <p:sp>
        <p:nvSpPr>
          <p:cNvPr id="23" name="TextBox 22"/>
          <p:cNvSpPr txBox="1"/>
          <p:nvPr/>
        </p:nvSpPr>
        <p:spPr>
          <a:xfrm>
            <a:off x="9107424" y="1591056"/>
            <a:ext cx="2505456" cy="777239"/>
          </a:xfrm>
          <a:prstGeom prst="rect">
            <a:avLst/>
          </a:prstGeom>
          <a:noFill/>
        </p:spPr>
        <p:txBody>
          <a:bodyPr wrap="square">
            <a:spAutoFit/>
          </a:bodyPr>
          <a:lstStyle/>
          <a:p>
            <a:pPr algn="ctr"/>
            <a:r>
              <a:rPr sz="2200" b="1" i="0">
                <a:solidFill>
                  <a:srgbClr val="90A4BE"/>
                </a:solidFill>
                <a:latin typeface="Calibri"/>
              </a:rPr>
              <a:t>22.98</a:t>
            </a:r>
          </a:p>
        </p:txBody>
      </p:sp>
      <p:sp>
        <p:nvSpPr>
          <p:cNvPr id="24" name="TextBox 23"/>
          <p:cNvSpPr txBox="1"/>
          <p:nvPr/>
        </p:nvSpPr>
        <p:spPr>
          <a:xfrm>
            <a:off x="9107424" y="2258568"/>
            <a:ext cx="2505456" cy="182880"/>
          </a:xfrm>
          <a:prstGeom prst="rect">
            <a:avLst/>
          </a:prstGeom>
          <a:noFill/>
        </p:spPr>
        <p:txBody>
          <a:bodyPr wrap="square">
            <a:spAutoFit/>
          </a:bodyPr>
          <a:lstStyle/>
          <a:p>
            <a:pPr algn="ctr"/>
            <a:r>
              <a:rPr sz="700" b="0" i="0">
                <a:solidFill>
                  <a:srgbClr val="90A4BE"/>
                </a:solidFill>
                <a:latin typeface="Calibri"/>
              </a:rPr>
              <a:t>ZMW/USD</a:t>
            </a:r>
          </a:p>
        </p:txBody>
      </p:sp>
      <p:sp>
        <p:nvSpPr>
          <p:cNvPr id="1" name="RndRect"/>
          <p:cNvSpPr>
            <a:spLocks noGrp="1"/>
          </p:cNvSpPr>
          <p:nvPr/>
        </p:nvSpPr>
        <p:spPr>
          <a:xfrm>
            <a:off x="256032" y="2651760"/>
            <a:ext cx="11658600" cy="3858768"/>
          </a:xfrm>
          <a:prstGeom prst="roundRect">
            <a:avLst>
              <a:gd name="adj" fmla="val 2073"/>
            </a:avLst>
          </a:prstGeom>
          <a:solidFill>
            <a:srgbClr val="122855"/>
          </a:solidFill>
          <a:ln w="12700">
            <a:solidFill>
              <a:srgbClr val="1A3C7D"/>
            </a:solidFill>
          </a:ln>
        </p:spPr>
        <p:txBody>
          <a:bodyPr/>
          <a:lstStyle/>
          <a:p/>
        </p:txBody>
      </p:sp>
      <p:pic>
        <p:nvPicPr>
          <p:cNvPr id="25" name="Picture 24" descr="image.png"/>
          <p:cNvPicPr>
            <a:picLocks noChangeAspect="1"/>
          </p:cNvPicPr>
          <p:nvPr/>
        </p:nvPicPr>
        <p:blipFill>
          <a:blip r:embed="rId2"/>
          <a:stretch>
            <a:fillRect/>
          </a:stretch>
        </p:blipFill>
        <p:spPr>
          <a:xfrm>
            <a:off x="384048" y="2761488"/>
            <a:ext cx="11384280" cy="3639312"/>
          </a:xfrm>
          <a:prstGeom prst="rect">
            <a:avLst/>
          </a:prstGeom>
        </p:spPr>
      </p:pic>
      <p:sp>
        <p:nvSpPr>
          <p:cNvPr id="1" name="RndRect"/>
          <p:cNvSpPr>
            <a:spLocks noGrp="1"/>
          </p:cNvSpPr>
          <p:nvPr/>
        </p:nvSpPr>
        <p:spPr>
          <a:xfrm>
            <a:off x="8732520" y="1188720"/>
            <a:ext cx="3218688" cy="1261872"/>
          </a:xfrm>
          <a:prstGeom prst="roundRect">
            <a:avLst>
              <a:gd name="adj" fmla="val 4754"/>
            </a:avLst>
          </a:prstGeom>
          <a:solidFill>
            <a:srgbClr val="1A3C7D"/>
          </a:solidFill>
          <a:ln w="19050">
            <a:solidFill>
              <a:srgbClr val="F5A623"/>
            </a:solidFill>
          </a:ln>
        </p:spPr>
        <p:txBody>
          <a:bodyPr/>
          <a:lstStyle/>
          <a:p/>
        </p:txBody>
      </p:sp>
      <p:sp>
        <p:nvSpPr>
          <p:cNvPr id="26" name="TextBox 25"/>
          <p:cNvSpPr txBox="1"/>
          <p:nvPr/>
        </p:nvSpPr>
        <p:spPr>
          <a:xfrm>
            <a:off x="8887968" y="1261872"/>
            <a:ext cx="2926080" cy="256032"/>
          </a:xfrm>
          <a:prstGeom prst="rect">
            <a:avLst/>
          </a:prstGeom>
          <a:noFill/>
        </p:spPr>
        <p:txBody>
          <a:bodyPr wrap="square">
            <a:spAutoFit/>
          </a:bodyPr>
          <a:lstStyle/>
          <a:p>
            <a:pPr algn="l"/>
            <a:r>
              <a:rPr sz="700" b="1" i="0">
                <a:solidFill>
                  <a:srgbClr val="F5A623"/>
                </a:solidFill>
                <a:latin typeface="Calibri"/>
              </a:rPr>
              <a:t>KEY INSIGHT</a:t>
            </a:r>
          </a:p>
        </p:txBody>
      </p:sp>
      <p:sp>
        <p:nvSpPr>
          <p:cNvPr id="27" name="TextBox 26"/>
          <p:cNvSpPr txBox="1"/>
          <p:nvPr/>
        </p:nvSpPr>
        <p:spPr>
          <a:xfrm>
            <a:off x="8887968" y="1508760"/>
            <a:ext cx="2926080" cy="914400"/>
          </a:xfrm>
          <a:prstGeom prst="rect">
            <a:avLst/>
          </a:prstGeom>
          <a:noFill/>
        </p:spPr>
        <p:txBody>
          <a:bodyPr wrap="square">
            <a:spAutoFit/>
          </a:bodyPr>
          <a:lstStyle/>
          <a:p>
            <a:pPr algn="l"/>
            <a:r>
              <a:rPr sz="750" b="0" i="0">
                <a:solidFill>
                  <a:srgbClr val="F4F7FC"/>
                </a:solidFill>
                <a:latin typeface="Calibri"/>
              </a:rPr>
              <a:t>The 2023 selling rate (20.89) has surpassed the PPP target (19.50) and is approaching the upper policy bound (22.98). Continued depreciation pressure warrants policy review.</a:t>
            </a:r>
          </a:p>
        </p:txBody>
      </p:sp>
      <p:sp>
        <p:nvSpPr>
          <p:cNvPr id="28" name="Rectangle 27"/>
          <p:cNvSpPr/>
          <p:nvPr/>
        </p:nvSpPr>
        <p:spPr>
          <a:xfrm>
            <a:off x="0" y="6537960"/>
            <a:ext cx="12188952" cy="320040"/>
          </a:xfrm>
          <a:prstGeom prst="rect">
            <a:avLst/>
          </a:prstGeom>
          <a:solidFill>
            <a:srgbClr val="12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0" y="6556248"/>
            <a:ext cx="12188952" cy="274320"/>
          </a:xfrm>
          <a:prstGeom prst="rect">
            <a:avLst/>
          </a:prstGeom>
          <a:noFill/>
        </p:spPr>
        <p:txBody>
          <a:bodyPr wrap="square">
            <a:spAutoFit/>
          </a:bodyPr>
          <a:lstStyle/>
          <a:p>
            <a:pPr algn="ctr"/>
            <a:r>
              <a:rPr sz="700" b="0" i="0">
                <a:solidFill>
                  <a:srgbClr val="90A4BE"/>
                </a:solidFill>
                <a:latin typeface="Calibri"/>
              </a:rPr>
              <a:t>SECTION 01  |  EXCHANGE RATE POLICY  |  PAGE 1 OF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24128"/>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10241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164592" y="164592"/>
            <a:ext cx="502920" cy="502920"/>
          </a:xfrm>
          <a:prstGeom prst="roundRect">
            <a:avLst>
              <a:gd name="adj" fmla="val 39767"/>
            </a:avLst>
          </a:prstGeom>
          <a:solidFill>
            <a:srgbClr val="1E88E5"/>
          </a:solidFill>
          <a:ln>
            <a:noFill/>
          </a:ln>
        </p:spPr>
        <p:txBody>
          <a:bodyPr/>
          <a:lstStyle/>
          <a:p/>
        </p:txBody>
      </p:sp>
      <p:sp>
        <p:nvSpPr>
          <p:cNvPr id="5" name="TextBox 4"/>
          <p:cNvSpPr txBox="1"/>
          <p:nvPr/>
        </p:nvSpPr>
        <p:spPr>
          <a:xfrm>
            <a:off x="164592" y="137160"/>
            <a:ext cx="502920" cy="548640"/>
          </a:xfrm>
          <a:prstGeom prst="rect">
            <a:avLst/>
          </a:prstGeom>
          <a:noFill/>
        </p:spPr>
        <p:txBody>
          <a:bodyPr wrap="square">
            <a:spAutoFit/>
          </a:bodyPr>
          <a:lstStyle/>
          <a:p>
            <a:pPr algn="ctr"/>
            <a:r>
              <a:rPr sz="1600" b="1" i="0">
                <a:solidFill>
                  <a:srgbClr val="FFFFFF"/>
                </a:solidFill>
                <a:latin typeface="Calibri"/>
              </a:rPr>
              <a:t>02</a:t>
            </a:r>
          </a:p>
        </p:txBody>
      </p:sp>
      <p:sp>
        <p:nvSpPr>
          <p:cNvPr id="6" name="TextBox 5"/>
          <p:cNvSpPr txBox="1"/>
          <p:nvPr/>
        </p:nvSpPr>
        <p:spPr>
          <a:xfrm>
            <a:off x="777240" y="91440"/>
            <a:ext cx="8686800" cy="502920"/>
          </a:xfrm>
          <a:prstGeom prst="rect">
            <a:avLst/>
          </a:prstGeom>
          <a:noFill/>
        </p:spPr>
        <p:txBody>
          <a:bodyPr wrap="square">
            <a:spAutoFit/>
          </a:bodyPr>
          <a:lstStyle/>
          <a:p>
            <a:pPr algn="l"/>
            <a:r>
              <a:rPr sz="2000" b="1" i="0">
                <a:solidFill>
                  <a:srgbClr val="FFFFFF"/>
                </a:solidFill>
                <a:latin typeface="Calibri"/>
              </a:rPr>
              <a:t>DEPRECIATION &amp; BID-ASK RATE ANALYSIS</a:t>
            </a:r>
          </a:p>
        </p:txBody>
      </p:sp>
      <p:sp>
        <p:nvSpPr>
          <p:cNvPr id="7" name="TextBox 6"/>
          <p:cNvSpPr txBox="1"/>
          <p:nvPr/>
        </p:nvSpPr>
        <p:spPr>
          <a:xfrm>
            <a:off x="777240" y="566928"/>
            <a:ext cx="8686800" cy="320040"/>
          </a:xfrm>
          <a:prstGeom prst="rect">
            <a:avLst/>
          </a:prstGeom>
          <a:noFill/>
        </p:spPr>
        <p:txBody>
          <a:bodyPr wrap="square">
            <a:spAutoFit/>
          </a:bodyPr>
          <a:lstStyle/>
          <a:p>
            <a:pPr algn="l"/>
            <a:r>
              <a:rPr sz="900" b="0" i="0">
                <a:solidFill>
                  <a:srgbClr val="64B5F6"/>
                </a:solidFill>
                <a:latin typeface="Calibri"/>
              </a:rPr>
              <a:t>Currency Depreciation  ·  FX Spread Trends  ·  2015–2023</a:t>
            </a:r>
          </a:p>
        </p:txBody>
      </p:sp>
      <p:sp>
        <p:nvSpPr>
          <p:cNvPr id="8" name="TextBox 7"/>
          <p:cNvSpPr txBox="1"/>
          <p:nvPr/>
        </p:nvSpPr>
        <p:spPr>
          <a:xfrm>
            <a:off x="9601200" y="347472"/>
            <a:ext cx="2468880" cy="320040"/>
          </a:xfrm>
          <a:prstGeom prst="rect">
            <a:avLst/>
          </a:prstGeom>
          <a:noFill/>
        </p:spPr>
        <p:txBody>
          <a:bodyPr wrap="square">
            <a:spAutoFit/>
          </a:bodyPr>
          <a:lstStyle/>
          <a:p>
            <a:pPr algn="r"/>
            <a:r>
              <a:rPr sz="650" b="0" i="0">
                <a:solidFill>
                  <a:srgbClr val="90A4BE"/>
                </a:solidFill>
                <a:latin typeface="Calibri"/>
              </a:rPr>
              <a:t>EXCHANGE RATE DETERMINATION | ZAMBIA</a:t>
            </a:r>
          </a:p>
        </p:txBody>
      </p:sp>
      <p:sp>
        <p:nvSpPr>
          <p:cNvPr id="1" name="RndRect"/>
          <p:cNvSpPr>
            <a:spLocks noGrp="1"/>
          </p:cNvSpPr>
          <p:nvPr/>
        </p:nvSpPr>
        <p:spPr>
          <a:xfrm>
            <a:off x="256032" y="1170432"/>
            <a:ext cx="3840480" cy="1325880"/>
          </a:xfrm>
          <a:prstGeom prst="roundRect">
            <a:avLst>
              <a:gd name="adj" fmla="val 7542"/>
            </a:avLst>
          </a:prstGeom>
          <a:solidFill>
            <a:srgbClr val="122855"/>
          </a:solidFill>
          <a:ln w="31750">
            <a:solidFill>
              <a:srgbClr val="E74C3C"/>
            </a:solidFill>
          </a:ln>
        </p:spPr>
        <p:txBody>
          <a:bodyPr/>
          <a:lstStyle/>
          <a:p/>
        </p:txBody>
      </p:sp>
      <p:sp>
        <p:nvSpPr>
          <p:cNvPr id="9" name="Rectangle 8"/>
          <p:cNvSpPr/>
          <p:nvPr/>
        </p:nvSpPr>
        <p:spPr>
          <a:xfrm>
            <a:off x="384048" y="1517904"/>
            <a:ext cx="3584448" cy="2011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261872"/>
            <a:ext cx="3584448" cy="256032"/>
          </a:xfrm>
          <a:prstGeom prst="rect">
            <a:avLst/>
          </a:prstGeom>
          <a:noFill/>
        </p:spPr>
        <p:txBody>
          <a:bodyPr wrap="square">
            <a:spAutoFit/>
          </a:bodyPr>
          <a:lstStyle/>
          <a:p>
            <a:pPr algn="ctr"/>
            <a:r>
              <a:rPr sz="750" b="0" i="0">
                <a:solidFill>
                  <a:srgbClr val="64B5F6"/>
                </a:solidFill>
                <a:latin typeface="Calibri"/>
              </a:rPr>
              <a:t>YOY DEPRECIATION</a:t>
            </a:r>
          </a:p>
        </p:txBody>
      </p:sp>
      <p:sp>
        <p:nvSpPr>
          <p:cNvPr id="11" name="TextBox 10"/>
          <p:cNvSpPr txBox="1"/>
          <p:nvPr/>
        </p:nvSpPr>
        <p:spPr>
          <a:xfrm>
            <a:off x="384048" y="1591056"/>
            <a:ext cx="3584448" cy="777239"/>
          </a:xfrm>
          <a:prstGeom prst="rect">
            <a:avLst/>
          </a:prstGeom>
          <a:noFill/>
        </p:spPr>
        <p:txBody>
          <a:bodyPr wrap="square">
            <a:spAutoFit/>
          </a:bodyPr>
          <a:lstStyle/>
          <a:p>
            <a:pPr algn="ctr"/>
            <a:r>
              <a:rPr sz="2200" b="1" i="0">
                <a:solidFill>
                  <a:srgbClr val="E74C3C"/>
                </a:solidFill>
                <a:latin typeface="Calibri"/>
              </a:rPr>
              <a:t>+21.3%</a:t>
            </a:r>
          </a:p>
        </p:txBody>
      </p:sp>
      <p:sp>
        <p:nvSpPr>
          <p:cNvPr id="12" name="TextBox 11"/>
          <p:cNvSpPr txBox="1"/>
          <p:nvPr/>
        </p:nvSpPr>
        <p:spPr>
          <a:xfrm>
            <a:off x="384048" y="2258568"/>
            <a:ext cx="3584448" cy="182880"/>
          </a:xfrm>
          <a:prstGeom prst="rect">
            <a:avLst/>
          </a:prstGeom>
          <a:noFill/>
        </p:spPr>
        <p:txBody>
          <a:bodyPr wrap="square">
            <a:spAutoFit/>
          </a:bodyPr>
          <a:lstStyle/>
          <a:p>
            <a:pPr algn="ctr"/>
            <a:r>
              <a:rPr sz="700" b="0" i="0">
                <a:solidFill>
                  <a:srgbClr val="90A4BE"/>
                </a:solidFill>
                <a:latin typeface="Calibri"/>
              </a:rPr>
              <a:t>2023</a:t>
            </a:r>
          </a:p>
        </p:txBody>
      </p:sp>
      <p:sp>
        <p:nvSpPr>
          <p:cNvPr id="1" name="RndRect"/>
          <p:cNvSpPr>
            <a:spLocks noGrp="1"/>
          </p:cNvSpPr>
          <p:nvPr/>
        </p:nvSpPr>
        <p:spPr>
          <a:xfrm>
            <a:off x="4233672" y="1170432"/>
            <a:ext cx="3840480" cy="1325880"/>
          </a:xfrm>
          <a:prstGeom prst="roundRect">
            <a:avLst>
              <a:gd name="adj" fmla="val 7542"/>
            </a:avLst>
          </a:prstGeom>
          <a:solidFill>
            <a:srgbClr val="122855"/>
          </a:solidFill>
          <a:ln w="31750">
            <a:solidFill>
              <a:srgbClr val="F5A623"/>
            </a:solidFill>
          </a:ln>
        </p:spPr>
        <p:txBody>
          <a:bodyPr/>
          <a:lstStyle/>
          <a:p/>
        </p:txBody>
      </p:sp>
      <p:sp>
        <p:nvSpPr>
          <p:cNvPr id="13" name="Rectangle 12"/>
          <p:cNvSpPr/>
          <p:nvPr/>
        </p:nvSpPr>
        <p:spPr>
          <a:xfrm>
            <a:off x="4361688" y="1517904"/>
            <a:ext cx="3584448" cy="2011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261872"/>
            <a:ext cx="3584448" cy="256032"/>
          </a:xfrm>
          <a:prstGeom prst="rect">
            <a:avLst/>
          </a:prstGeom>
          <a:noFill/>
        </p:spPr>
        <p:txBody>
          <a:bodyPr wrap="square">
            <a:spAutoFit/>
          </a:bodyPr>
          <a:lstStyle/>
          <a:p>
            <a:pPr algn="ctr"/>
            <a:r>
              <a:rPr sz="750" b="0" i="0">
                <a:solidFill>
                  <a:srgbClr val="64B5F6"/>
                </a:solidFill>
                <a:latin typeface="Calibri"/>
              </a:rPr>
              <a:t>BID-ASK SPREAD</a:t>
            </a:r>
          </a:p>
        </p:txBody>
      </p:sp>
      <p:sp>
        <p:nvSpPr>
          <p:cNvPr id="15" name="TextBox 14"/>
          <p:cNvSpPr txBox="1"/>
          <p:nvPr/>
        </p:nvSpPr>
        <p:spPr>
          <a:xfrm>
            <a:off x="4361688" y="1591056"/>
            <a:ext cx="3584448" cy="777239"/>
          </a:xfrm>
          <a:prstGeom prst="rect">
            <a:avLst/>
          </a:prstGeom>
          <a:noFill/>
        </p:spPr>
        <p:txBody>
          <a:bodyPr wrap="square">
            <a:spAutoFit/>
          </a:bodyPr>
          <a:lstStyle/>
          <a:p>
            <a:pPr algn="ctr"/>
            <a:r>
              <a:rPr sz="2200" b="1" i="0">
                <a:solidFill>
                  <a:srgbClr val="F5A623"/>
                </a:solidFill>
                <a:latin typeface="Calibri"/>
              </a:rPr>
              <a:t>3.1%</a:t>
            </a:r>
          </a:p>
        </p:txBody>
      </p:sp>
      <p:sp>
        <p:nvSpPr>
          <p:cNvPr id="16" name="TextBox 15"/>
          <p:cNvSpPr txBox="1"/>
          <p:nvPr/>
        </p:nvSpPr>
        <p:spPr>
          <a:xfrm>
            <a:off x="4361688" y="2258568"/>
            <a:ext cx="3584448" cy="182880"/>
          </a:xfrm>
          <a:prstGeom prst="rect">
            <a:avLst/>
          </a:prstGeom>
          <a:noFill/>
        </p:spPr>
        <p:txBody>
          <a:bodyPr wrap="square">
            <a:spAutoFit/>
          </a:bodyPr>
          <a:lstStyle/>
          <a:p>
            <a:pPr algn="ctr"/>
            <a:r>
              <a:rPr sz="700" b="0" i="0">
                <a:solidFill>
                  <a:srgbClr val="90A4BE"/>
                </a:solidFill>
                <a:latin typeface="Calibri"/>
              </a:rPr>
              <a:t>2023 Latest</a:t>
            </a:r>
          </a:p>
        </p:txBody>
      </p:sp>
      <p:sp>
        <p:nvSpPr>
          <p:cNvPr id="1" name="RndRect"/>
          <p:cNvSpPr>
            <a:spLocks noGrp="1"/>
          </p:cNvSpPr>
          <p:nvPr/>
        </p:nvSpPr>
        <p:spPr>
          <a:xfrm>
            <a:off x="8211311" y="1170432"/>
            <a:ext cx="3840480" cy="1325880"/>
          </a:xfrm>
          <a:prstGeom prst="roundRect">
            <a:avLst>
              <a:gd name="adj" fmla="val 7542"/>
            </a:avLst>
          </a:prstGeom>
          <a:solidFill>
            <a:srgbClr val="122855"/>
          </a:solidFill>
          <a:ln w="31750">
            <a:solidFill>
              <a:srgbClr val="E74C3C"/>
            </a:solidFill>
          </a:ln>
        </p:spPr>
        <p:txBody>
          <a:bodyPr/>
          <a:lstStyle/>
          <a:p/>
        </p:txBody>
      </p:sp>
      <p:sp>
        <p:nvSpPr>
          <p:cNvPr id="17" name="Rectangle 16"/>
          <p:cNvSpPr/>
          <p:nvPr/>
        </p:nvSpPr>
        <p:spPr>
          <a:xfrm>
            <a:off x="8339327" y="1517904"/>
            <a:ext cx="3584448" cy="2011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1261872"/>
            <a:ext cx="3584448" cy="256032"/>
          </a:xfrm>
          <a:prstGeom prst="rect">
            <a:avLst/>
          </a:prstGeom>
          <a:noFill/>
        </p:spPr>
        <p:txBody>
          <a:bodyPr wrap="square">
            <a:spAutoFit/>
          </a:bodyPr>
          <a:lstStyle/>
          <a:p>
            <a:pPr algn="ctr"/>
            <a:r>
              <a:rPr sz="750" b="0" i="0">
                <a:solidFill>
                  <a:srgbClr val="64B5F6"/>
                </a:solidFill>
                <a:latin typeface="Calibri"/>
              </a:rPr>
              <a:t>CUMULATIVE DEPR.</a:t>
            </a:r>
          </a:p>
        </p:txBody>
      </p:sp>
      <p:sp>
        <p:nvSpPr>
          <p:cNvPr id="19" name="TextBox 18"/>
          <p:cNvSpPr txBox="1"/>
          <p:nvPr/>
        </p:nvSpPr>
        <p:spPr>
          <a:xfrm>
            <a:off x="8339327" y="1591056"/>
            <a:ext cx="3584448" cy="777239"/>
          </a:xfrm>
          <a:prstGeom prst="rect">
            <a:avLst/>
          </a:prstGeom>
          <a:noFill/>
        </p:spPr>
        <p:txBody>
          <a:bodyPr wrap="square">
            <a:spAutoFit/>
          </a:bodyPr>
          <a:lstStyle/>
          <a:p>
            <a:pPr algn="ctr"/>
            <a:r>
              <a:rPr sz="2200" b="1" i="0">
                <a:solidFill>
                  <a:srgbClr val="E74C3C"/>
                </a:solidFill>
                <a:latin typeface="Calibri"/>
              </a:rPr>
              <a:t>+142.9%</a:t>
            </a:r>
          </a:p>
        </p:txBody>
      </p:sp>
      <p:sp>
        <p:nvSpPr>
          <p:cNvPr id="20" name="TextBox 19"/>
          <p:cNvSpPr txBox="1"/>
          <p:nvPr/>
        </p:nvSpPr>
        <p:spPr>
          <a:xfrm>
            <a:off x="8339327" y="2258568"/>
            <a:ext cx="3584448" cy="182880"/>
          </a:xfrm>
          <a:prstGeom prst="rect">
            <a:avLst/>
          </a:prstGeom>
          <a:noFill/>
        </p:spPr>
        <p:txBody>
          <a:bodyPr wrap="square">
            <a:spAutoFit/>
          </a:bodyPr>
          <a:lstStyle/>
          <a:p>
            <a:pPr algn="ctr"/>
            <a:r>
              <a:rPr sz="700" b="0" i="0">
                <a:solidFill>
                  <a:srgbClr val="90A4BE"/>
                </a:solidFill>
                <a:latin typeface="Calibri"/>
              </a:rPr>
              <a:t>2015→2023</a:t>
            </a:r>
          </a:p>
        </p:txBody>
      </p:sp>
      <p:sp>
        <p:nvSpPr>
          <p:cNvPr id="1" name="RndRect"/>
          <p:cNvSpPr>
            <a:spLocks noGrp="1"/>
          </p:cNvSpPr>
          <p:nvPr/>
        </p:nvSpPr>
        <p:spPr>
          <a:xfrm>
            <a:off x="256032" y="2651760"/>
            <a:ext cx="5852160" cy="3913632"/>
          </a:xfrm>
          <a:prstGeom prst="roundRect">
            <a:avLst>
              <a:gd name="adj" fmla="val 2044"/>
            </a:avLst>
          </a:prstGeom>
          <a:solidFill>
            <a:srgbClr val="122855"/>
          </a:solidFill>
          <a:ln w="12700">
            <a:solidFill>
              <a:srgbClr val="1A3C7D"/>
            </a:solidFill>
          </a:ln>
        </p:spPr>
        <p:txBody>
          <a:bodyPr/>
          <a:lstStyle/>
          <a:p/>
        </p:txBody>
      </p:sp>
      <p:sp>
        <p:nvSpPr>
          <p:cNvPr id="1" name="RndRect"/>
          <p:cNvSpPr>
            <a:spLocks noGrp="1"/>
          </p:cNvSpPr>
          <p:nvPr/>
        </p:nvSpPr>
        <p:spPr>
          <a:xfrm>
            <a:off x="6263640" y="2651760"/>
            <a:ext cx="5687568" cy="3913632"/>
          </a:xfrm>
          <a:prstGeom prst="roundRect">
            <a:avLst>
              <a:gd name="adj" fmla="val 2044"/>
            </a:avLst>
          </a:prstGeom>
          <a:solidFill>
            <a:srgbClr val="122855"/>
          </a:solidFill>
          <a:ln w="12700">
            <a:solidFill>
              <a:srgbClr val="1A3C7D"/>
            </a:solidFill>
          </a:ln>
        </p:spPr>
        <p:txBody>
          <a:bodyPr/>
          <a:lstStyle/>
          <a:p/>
        </p:txBody>
      </p:sp>
      <p:pic>
        <p:nvPicPr>
          <p:cNvPr id="21" name="Picture 20" descr="image.png"/>
          <p:cNvPicPr>
            <a:picLocks noChangeAspect="1"/>
          </p:cNvPicPr>
          <p:nvPr/>
        </p:nvPicPr>
        <p:blipFill>
          <a:blip r:embed="rId2"/>
          <a:stretch>
            <a:fillRect/>
          </a:stretch>
        </p:blipFill>
        <p:spPr>
          <a:xfrm>
            <a:off x="384048" y="2761488"/>
            <a:ext cx="5623560" cy="3675887"/>
          </a:xfrm>
          <a:prstGeom prst="rect">
            <a:avLst/>
          </a:prstGeom>
        </p:spPr>
      </p:pic>
      <p:pic>
        <p:nvPicPr>
          <p:cNvPr id="22" name="Picture 21" descr="image.png"/>
          <p:cNvPicPr>
            <a:picLocks noChangeAspect="1"/>
          </p:cNvPicPr>
          <p:nvPr/>
        </p:nvPicPr>
        <p:blipFill>
          <a:blip r:embed="rId3"/>
          <a:stretch>
            <a:fillRect/>
          </a:stretch>
        </p:blipFill>
        <p:spPr>
          <a:xfrm>
            <a:off x="6382512" y="2761488"/>
            <a:ext cx="5468112" cy="3675887"/>
          </a:xfrm>
          <a:prstGeom prst="rect">
            <a:avLst/>
          </a:prstGeom>
        </p:spPr>
      </p:pic>
      <p:sp>
        <p:nvSpPr>
          <p:cNvPr id="1" name="RndRect"/>
          <p:cNvSpPr>
            <a:spLocks noGrp="1"/>
          </p:cNvSpPr>
          <p:nvPr/>
        </p:nvSpPr>
        <p:spPr>
          <a:xfrm>
            <a:off x="256032" y="6144768"/>
            <a:ext cx="5852160" cy="384048"/>
          </a:xfrm>
          <a:prstGeom prst="roundRect">
            <a:avLst>
              <a:gd name="adj" fmla="val 10415"/>
            </a:avLst>
          </a:prstGeom>
          <a:solidFill>
            <a:srgbClr val="1A3C7D"/>
          </a:solidFill>
          <a:ln w="12700">
            <a:solidFill>
              <a:srgbClr val="E74C3C"/>
            </a:solidFill>
          </a:ln>
        </p:spPr>
        <p:txBody>
          <a:bodyPr/>
          <a:lstStyle/>
          <a:p/>
        </p:txBody>
      </p:sp>
      <p:sp>
        <p:nvSpPr>
          <p:cNvPr id="23" name="TextBox 22"/>
          <p:cNvSpPr txBox="1"/>
          <p:nvPr/>
        </p:nvSpPr>
        <p:spPr>
          <a:xfrm>
            <a:off x="384048" y="6181344"/>
            <a:ext cx="5623560" cy="274320"/>
          </a:xfrm>
          <a:prstGeom prst="rect">
            <a:avLst/>
          </a:prstGeom>
          <a:noFill/>
        </p:spPr>
        <p:txBody>
          <a:bodyPr wrap="square">
            <a:spAutoFit/>
          </a:bodyPr>
          <a:lstStyle/>
          <a:p>
            <a:pPr algn="l"/>
            <a:r>
              <a:rPr sz="750" b="0" i="0">
                <a:solidFill>
                  <a:srgbClr val="F4F7FC"/>
                </a:solidFill>
                <a:latin typeface="Calibri"/>
              </a:rPr>
              <a:t>2020 saw the sharpest depreciation (+32.9%) driven by COVID-19 economic shock</a:t>
            </a:r>
          </a:p>
        </p:txBody>
      </p:sp>
      <p:sp>
        <p:nvSpPr>
          <p:cNvPr id="1" name="RndRect"/>
          <p:cNvSpPr>
            <a:spLocks noGrp="1"/>
          </p:cNvSpPr>
          <p:nvPr/>
        </p:nvSpPr>
        <p:spPr>
          <a:xfrm>
            <a:off x="6263640" y="6144768"/>
            <a:ext cx="5687568" cy="384048"/>
          </a:xfrm>
          <a:prstGeom prst="roundRect">
            <a:avLst>
              <a:gd name="adj" fmla="val 10415"/>
            </a:avLst>
          </a:prstGeom>
          <a:solidFill>
            <a:srgbClr val="1A3C7D"/>
          </a:solidFill>
          <a:ln w="12700">
            <a:solidFill>
              <a:srgbClr val="F5A623"/>
            </a:solidFill>
          </a:ln>
        </p:spPr>
        <p:txBody>
          <a:bodyPr/>
          <a:lstStyle/>
          <a:p/>
        </p:txBody>
      </p:sp>
      <p:sp>
        <p:nvSpPr>
          <p:cNvPr id="24" name="TextBox 23"/>
          <p:cNvSpPr txBox="1"/>
          <p:nvPr/>
        </p:nvSpPr>
        <p:spPr>
          <a:xfrm>
            <a:off x="6382512" y="6181344"/>
            <a:ext cx="5486400" cy="274320"/>
          </a:xfrm>
          <a:prstGeom prst="rect">
            <a:avLst/>
          </a:prstGeom>
          <a:noFill/>
        </p:spPr>
        <p:txBody>
          <a:bodyPr wrap="square">
            <a:spAutoFit/>
          </a:bodyPr>
          <a:lstStyle/>
          <a:p>
            <a:pPr algn="l"/>
            <a:r>
              <a:rPr sz="750" b="0" i="0">
                <a:solidFill>
                  <a:srgbClr val="F4F7FC"/>
                </a:solidFill>
                <a:latin typeface="Calibri"/>
              </a:rPr>
              <a:t>Spread widening post-2019 reflects reduced FX liquidity and elevated hedging costs</a:t>
            </a:r>
          </a:p>
        </p:txBody>
      </p:sp>
      <p:sp>
        <p:nvSpPr>
          <p:cNvPr id="25" name="Rectangle 24"/>
          <p:cNvSpPr/>
          <p:nvPr/>
        </p:nvSpPr>
        <p:spPr>
          <a:xfrm>
            <a:off x="0" y="6556248"/>
            <a:ext cx="12188952" cy="301752"/>
          </a:xfrm>
          <a:prstGeom prst="rect">
            <a:avLst/>
          </a:prstGeom>
          <a:solidFill>
            <a:srgbClr val="12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0" y="6574536"/>
            <a:ext cx="12188952" cy="256032"/>
          </a:xfrm>
          <a:prstGeom prst="rect">
            <a:avLst/>
          </a:prstGeom>
          <a:noFill/>
        </p:spPr>
        <p:txBody>
          <a:bodyPr wrap="square">
            <a:spAutoFit/>
          </a:bodyPr>
          <a:lstStyle/>
          <a:p>
            <a:pPr algn="ctr"/>
            <a:r>
              <a:rPr sz="700" b="0" i="0">
                <a:solidFill>
                  <a:srgbClr val="90A4BE"/>
                </a:solidFill>
                <a:latin typeface="Calibri"/>
              </a:rPr>
              <a:t>SECTION 02  |  DEPRECIATION &amp; BID-ASK ANALYSIS  |  PAGE 2 OF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24128"/>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10241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164592" y="164592"/>
            <a:ext cx="502920" cy="502920"/>
          </a:xfrm>
          <a:prstGeom prst="roundRect">
            <a:avLst>
              <a:gd name="adj" fmla="val 39767"/>
            </a:avLst>
          </a:prstGeom>
          <a:solidFill>
            <a:srgbClr val="1E88E5"/>
          </a:solidFill>
          <a:ln>
            <a:noFill/>
          </a:ln>
        </p:spPr>
        <p:txBody>
          <a:bodyPr/>
          <a:lstStyle/>
          <a:p/>
        </p:txBody>
      </p:sp>
      <p:sp>
        <p:nvSpPr>
          <p:cNvPr id="5" name="TextBox 4"/>
          <p:cNvSpPr txBox="1"/>
          <p:nvPr/>
        </p:nvSpPr>
        <p:spPr>
          <a:xfrm>
            <a:off x="164592" y="137160"/>
            <a:ext cx="502920" cy="548640"/>
          </a:xfrm>
          <a:prstGeom prst="rect">
            <a:avLst/>
          </a:prstGeom>
          <a:noFill/>
        </p:spPr>
        <p:txBody>
          <a:bodyPr wrap="square">
            <a:spAutoFit/>
          </a:bodyPr>
          <a:lstStyle/>
          <a:p>
            <a:pPr algn="ctr"/>
            <a:r>
              <a:rPr sz="1600" b="1" i="0">
                <a:solidFill>
                  <a:srgbClr val="FFFFFF"/>
                </a:solidFill>
                <a:latin typeface="Calibri"/>
              </a:rPr>
              <a:t>03</a:t>
            </a:r>
          </a:p>
        </p:txBody>
      </p:sp>
      <p:sp>
        <p:nvSpPr>
          <p:cNvPr id="6" name="TextBox 5"/>
          <p:cNvSpPr txBox="1"/>
          <p:nvPr/>
        </p:nvSpPr>
        <p:spPr>
          <a:xfrm>
            <a:off x="777240" y="91440"/>
            <a:ext cx="8686800" cy="502920"/>
          </a:xfrm>
          <a:prstGeom prst="rect">
            <a:avLst/>
          </a:prstGeom>
          <a:noFill/>
        </p:spPr>
        <p:txBody>
          <a:bodyPr wrap="square">
            <a:spAutoFit/>
          </a:bodyPr>
          <a:lstStyle/>
          <a:p>
            <a:pPr algn="l"/>
            <a:r>
              <a:rPr sz="2000" b="1" i="0">
                <a:solidFill>
                  <a:srgbClr val="FFFFFF"/>
                </a:solidFill>
                <a:latin typeface="Calibri"/>
              </a:rPr>
              <a:t>INFLATION ANALYSIS</a:t>
            </a:r>
          </a:p>
        </p:txBody>
      </p:sp>
      <p:sp>
        <p:nvSpPr>
          <p:cNvPr id="7" name="TextBox 6"/>
          <p:cNvSpPr txBox="1"/>
          <p:nvPr/>
        </p:nvSpPr>
        <p:spPr>
          <a:xfrm>
            <a:off x="777240" y="566928"/>
            <a:ext cx="8686800" cy="320040"/>
          </a:xfrm>
          <a:prstGeom prst="rect">
            <a:avLst/>
          </a:prstGeom>
          <a:noFill/>
        </p:spPr>
        <p:txBody>
          <a:bodyPr wrap="square">
            <a:spAutoFit/>
          </a:bodyPr>
          <a:lstStyle/>
          <a:p>
            <a:pPr algn="l"/>
            <a:r>
              <a:rPr sz="900" b="0" i="0">
                <a:solidFill>
                  <a:srgbClr val="64B5F6"/>
                </a:solidFill>
                <a:latin typeface="Calibri"/>
              </a:rPr>
              <a:t>US vs Zambia Inflation  ·  Differential Impact  ·  PPP Implications  ·  2015–2023</a:t>
            </a:r>
          </a:p>
        </p:txBody>
      </p:sp>
      <p:sp>
        <p:nvSpPr>
          <p:cNvPr id="8" name="TextBox 7"/>
          <p:cNvSpPr txBox="1"/>
          <p:nvPr/>
        </p:nvSpPr>
        <p:spPr>
          <a:xfrm>
            <a:off x="9601200" y="347472"/>
            <a:ext cx="2468880" cy="320040"/>
          </a:xfrm>
          <a:prstGeom prst="rect">
            <a:avLst/>
          </a:prstGeom>
          <a:noFill/>
        </p:spPr>
        <p:txBody>
          <a:bodyPr wrap="square">
            <a:spAutoFit/>
          </a:bodyPr>
          <a:lstStyle/>
          <a:p>
            <a:pPr algn="r"/>
            <a:r>
              <a:rPr sz="650" b="0" i="0">
                <a:solidFill>
                  <a:srgbClr val="90A4BE"/>
                </a:solidFill>
                <a:latin typeface="Calibri"/>
              </a:rPr>
              <a:t>EXCHANGE RATE DETERMINATION | ZAMBIA</a:t>
            </a:r>
          </a:p>
        </p:txBody>
      </p:sp>
      <p:sp>
        <p:nvSpPr>
          <p:cNvPr id="1" name="RndRect"/>
          <p:cNvSpPr>
            <a:spLocks noGrp="1"/>
          </p:cNvSpPr>
          <p:nvPr/>
        </p:nvSpPr>
        <p:spPr>
          <a:xfrm>
            <a:off x="256032" y="1170432"/>
            <a:ext cx="2761488" cy="1325880"/>
          </a:xfrm>
          <a:prstGeom prst="roundRect">
            <a:avLst>
              <a:gd name="adj" fmla="val 7542"/>
            </a:avLst>
          </a:prstGeom>
          <a:solidFill>
            <a:srgbClr val="122855"/>
          </a:solidFill>
          <a:ln w="31750">
            <a:solidFill>
              <a:srgbClr val="1E88E5"/>
            </a:solidFill>
          </a:ln>
        </p:spPr>
        <p:txBody>
          <a:bodyPr/>
          <a:lstStyle/>
          <a:p/>
        </p:txBody>
      </p:sp>
      <p:sp>
        <p:nvSpPr>
          <p:cNvPr id="9" name="Rectangle 8"/>
          <p:cNvSpPr/>
          <p:nvPr/>
        </p:nvSpPr>
        <p:spPr>
          <a:xfrm>
            <a:off x="384048" y="1517904"/>
            <a:ext cx="2505456" cy="20116"/>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261872"/>
            <a:ext cx="2505456" cy="256032"/>
          </a:xfrm>
          <a:prstGeom prst="rect">
            <a:avLst/>
          </a:prstGeom>
          <a:noFill/>
        </p:spPr>
        <p:txBody>
          <a:bodyPr wrap="square">
            <a:spAutoFit/>
          </a:bodyPr>
          <a:lstStyle/>
          <a:p>
            <a:pPr algn="ctr"/>
            <a:r>
              <a:rPr sz="750" b="0" i="0">
                <a:solidFill>
                  <a:srgbClr val="64B5F6"/>
                </a:solidFill>
                <a:latin typeface="Calibri"/>
              </a:rPr>
              <a:t>US AVG INFLATION</a:t>
            </a:r>
          </a:p>
        </p:txBody>
      </p:sp>
      <p:sp>
        <p:nvSpPr>
          <p:cNvPr id="11" name="TextBox 10"/>
          <p:cNvSpPr txBox="1"/>
          <p:nvPr/>
        </p:nvSpPr>
        <p:spPr>
          <a:xfrm>
            <a:off x="384048" y="1591056"/>
            <a:ext cx="2505456" cy="777239"/>
          </a:xfrm>
          <a:prstGeom prst="rect">
            <a:avLst/>
          </a:prstGeom>
          <a:noFill/>
        </p:spPr>
        <p:txBody>
          <a:bodyPr wrap="square">
            <a:spAutoFit/>
          </a:bodyPr>
          <a:lstStyle/>
          <a:p>
            <a:pPr algn="ctr"/>
            <a:r>
              <a:rPr sz="2200" b="1" i="0">
                <a:solidFill>
                  <a:srgbClr val="FFFFFF"/>
                </a:solidFill>
                <a:latin typeface="Calibri"/>
              </a:rPr>
              <a:t>4.1%</a:t>
            </a:r>
          </a:p>
        </p:txBody>
      </p:sp>
      <p:sp>
        <p:nvSpPr>
          <p:cNvPr id="12" name="TextBox 11"/>
          <p:cNvSpPr txBox="1"/>
          <p:nvPr/>
        </p:nvSpPr>
        <p:spPr>
          <a:xfrm>
            <a:off x="384048" y="2258568"/>
            <a:ext cx="2505456" cy="182880"/>
          </a:xfrm>
          <a:prstGeom prst="rect">
            <a:avLst/>
          </a:prstGeom>
          <a:noFill/>
        </p:spPr>
        <p:txBody>
          <a:bodyPr wrap="square">
            <a:spAutoFit/>
          </a:bodyPr>
          <a:lstStyle/>
          <a:p>
            <a:pPr algn="ctr"/>
            <a:r>
              <a:rPr sz="700" b="0" i="0">
                <a:solidFill>
                  <a:srgbClr val="90A4BE"/>
                </a:solidFill>
                <a:latin typeface="Calibri"/>
              </a:rPr>
              <a:t>2023</a:t>
            </a:r>
          </a:p>
        </p:txBody>
      </p:sp>
      <p:sp>
        <p:nvSpPr>
          <p:cNvPr id="1" name="RndRect"/>
          <p:cNvSpPr>
            <a:spLocks noGrp="1"/>
          </p:cNvSpPr>
          <p:nvPr/>
        </p:nvSpPr>
        <p:spPr>
          <a:xfrm>
            <a:off x="3163824" y="1170432"/>
            <a:ext cx="2761488" cy="1325880"/>
          </a:xfrm>
          <a:prstGeom prst="roundRect">
            <a:avLst>
              <a:gd name="adj" fmla="val 7542"/>
            </a:avLst>
          </a:prstGeom>
          <a:solidFill>
            <a:srgbClr val="122855"/>
          </a:solidFill>
          <a:ln w="31750">
            <a:solidFill>
              <a:srgbClr val="F5A623"/>
            </a:solidFill>
          </a:ln>
        </p:spPr>
        <p:txBody>
          <a:bodyPr/>
          <a:lstStyle/>
          <a:p/>
        </p:txBody>
      </p:sp>
      <p:sp>
        <p:nvSpPr>
          <p:cNvPr id="13" name="Rectangle 12"/>
          <p:cNvSpPr/>
          <p:nvPr/>
        </p:nvSpPr>
        <p:spPr>
          <a:xfrm>
            <a:off x="3291840" y="1517904"/>
            <a:ext cx="2505456" cy="2011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1261872"/>
            <a:ext cx="2505456" cy="256032"/>
          </a:xfrm>
          <a:prstGeom prst="rect">
            <a:avLst/>
          </a:prstGeom>
          <a:noFill/>
        </p:spPr>
        <p:txBody>
          <a:bodyPr wrap="square">
            <a:spAutoFit/>
          </a:bodyPr>
          <a:lstStyle/>
          <a:p>
            <a:pPr algn="ctr"/>
            <a:r>
              <a:rPr sz="750" b="0" i="0">
                <a:solidFill>
                  <a:srgbClr val="64B5F6"/>
                </a:solidFill>
                <a:latin typeface="Calibri"/>
              </a:rPr>
              <a:t>ZAMBIA AVG INFLATION</a:t>
            </a:r>
          </a:p>
        </p:txBody>
      </p:sp>
      <p:sp>
        <p:nvSpPr>
          <p:cNvPr id="15" name="TextBox 14"/>
          <p:cNvSpPr txBox="1"/>
          <p:nvPr/>
        </p:nvSpPr>
        <p:spPr>
          <a:xfrm>
            <a:off x="3291840" y="1591056"/>
            <a:ext cx="2505456" cy="777239"/>
          </a:xfrm>
          <a:prstGeom prst="rect">
            <a:avLst/>
          </a:prstGeom>
          <a:noFill/>
        </p:spPr>
        <p:txBody>
          <a:bodyPr wrap="square">
            <a:spAutoFit/>
          </a:bodyPr>
          <a:lstStyle/>
          <a:p>
            <a:pPr algn="ctr"/>
            <a:r>
              <a:rPr sz="2200" b="1" i="0">
                <a:solidFill>
                  <a:srgbClr val="F5A623"/>
                </a:solidFill>
                <a:latin typeface="Calibri"/>
              </a:rPr>
              <a:t>13.5%</a:t>
            </a:r>
          </a:p>
        </p:txBody>
      </p:sp>
      <p:sp>
        <p:nvSpPr>
          <p:cNvPr id="16" name="TextBox 15"/>
          <p:cNvSpPr txBox="1"/>
          <p:nvPr/>
        </p:nvSpPr>
        <p:spPr>
          <a:xfrm>
            <a:off x="3291840" y="2258568"/>
            <a:ext cx="2505456" cy="182880"/>
          </a:xfrm>
          <a:prstGeom prst="rect">
            <a:avLst/>
          </a:prstGeom>
          <a:noFill/>
        </p:spPr>
        <p:txBody>
          <a:bodyPr wrap="square">
            <a:spAutoFit/>
          </a:bodyPr>
          <a:lstStyle/>
          <a:p>
            <a:pPr algn="ctr"/>
            <a:r>
              <a:rPr sz="700" b="0" i="0">
                <a:solidFill>
                  <a:srgbClr val="90A4BE"/>
                </a:solidFill>
                <a:latin typeface="Calibri"/>
              </a:rPr>
              <a:t>2023</a:t>
            </a:r>
          </a:p>
        </p:txBody>
      </p:sp>
      <p:sp>
        <p:nvSpPr>
          <p:cNvPr id="1" name="RndRect"/>
          <p:cNvSpPr>
            <a:spLocks noGrp="1"/>
          </p:cNvSpPr>
          <p:nvPr/>
        </p:nvSpPr>
        <p:spPr>
          <a:xfrm>
            <a:off x="6071616" y="1170432"/>
            <a:ext cx="2761488" cy="1325880"/>
          </a:xfrm>
          <a:prstGeom prst="roundRect">
            <a:avLst>
              <a:gd name="adj" fmla="val 7542"/>
            </a:avLst>
          </a:prstGeom>
          <a:solidFill>
            <a:srgbClr val="122855"/>
          </a:solidFill>
          <a:ln w="31750">
            <a:solidFill>
              <a:srgbClr val="E74C3C"/>
            </a:solidFill>
          </a:ln>
        </p:spPr>
        <p:txBody>
          <a:bodyPr/>
          <a:lstStyle/>
          <a:p/>
        </p:txBody>
      </p:sp>
      <p:sp>
        <p:nvSpPr>
          <p:cNvPr id="17" name="Rectangle 16"/>
          <p:cNvSpPr/>
          <p:nvPr/>
        </p:nvSpPr>
        <p:spPr>
          <a:xfrm>
            <a:off x="6199632" y="1517904"/>
            <a:ext cx="2505456" cy="2011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9632" y="1261872"/>
            <a:ext cx="2505456" cy="256032"/>
          </a:xfrm>
          <a:prstGeom prst="rect">
            <a:avLst/>
          </a:prstGeom>
          <a:noFill/>
        </p:spPr>
        <p:txBody>
          <a:bodyPr wrap="square">
            <a:spAutoFit/>
          </a:bodyPr>
          <a:lstStyle/>
          <a:p>
            <a:pPr algn="ctr"/>
            <a:r>
              <a:rPr sz="750" b="0" i="0">
                <a:solidFill>
                  <a:srgbClr val="64B5F6"/>
                </a:solidFill>
                <a:latin typeface="Calibri"/>
              </a:rPr>
              <a:t>INFLATION DIFFERENTIAL</a:t>
            </a:r>
          </a:p>
        </p:txBody>
      </p:sp>
      <p:sp>
        <p:nvSpPr>
          <p:cNvPr id="19" name="TextBox 18"/>
          <p:cNvSpPr txBox="1"/>
          <p:nvPr/>
        </p:nvSpPr>
        <p:spPr>
          <a:xfrm>
            <a:off x="6199632" y="1591056"/>
            <a:ext cx="2505456" cy="777239"/>
          </a:xfrm>
          <a:prstGeom prst="rect">
            <a:avLst/>
          </a:prstGeom>
          <a:noFill/>
        </p:spPr>
        <p:txBody>
          <a:bodyPr wrap="square">
            <a:spAutoFit/>
          </a:bodyPr>
          <a:lstStyle/>
          <a:p>
            <a:pPr algn="ctr"/>
            <a:r>
              <a:rPr sz="2200" b="1" i="0">
                <a:solidFill>
                  <a:srgbClr val="E74C3C"/>
                </a:solidFill>
                <a:latin typeface="Calibri"/>
              </a:rPr>
              <a:t>9.4 pp</a:t>
            </a:r>
          </a:p>
        </p:txBody>
      </p:sp>
      <p:sp>
        <p:nvSpPr>
          <p:cNvPr id="20" name="TextBox 19"/>
          <p:cNvSpPr txBox="1"/>
          <p:nvPr/>
        </p:nvSpPr>
        <p:spPr>
          <a:xfrm>
            <a:off x="6199632" y="2258568"/>
            <a:ext cx="2505456" cy="182880"/>
          </a:xfrm>
          <a:prstGeom prst="rect">
            <a:avLst/>
          </a:prstGeom>
          <a:noFill/>
        </p:spPr>
        <p:txBody>
          <a:bodyPr wrap="square">
            <a:spAutoFit/>
          </a:bodyPr>
          <a:lstStyle/>
          <a:p>
            <a:pPr algn="ctr"/>
            <a:r>
              <a:rPr sz="700" b="0" i="0">
                <a:solidFill>
                  <a:srgbClr val="90A4BE"/>
                </a:solidFill>
                <a:latin typeface="Calibri"/>
              </a:rPr>
              <a:t>ZM − US</a:t>
            </a:r>
          </a:p>
        </p:txBody>
      </p:sp>
      <p:sp>
        <p:nvSpPr>
          <p:cNvPr id="1" name="RndRect"/>
          <p:cNvSpPr>
            <a:spLocks noGrp="1"/>
          </p:cNvSpPr>
          <p:nvPr/>
        </p:nvSpPr>
        <p:spPr>
          <a:xfrm>
            <a:off x="8979408" y="1170432"/>
            <a:ext cx="2761488" cy="1325880"/>
          </a:xfrm>
          <a:prstGeom prst="roundRect">
            <a:avLst>
              <a:gd name="adj" fmla="val 7542"/>
            </a:avLst>
          </a:prstGeom>
          <a:solidFill>
            <a:srgbClr val="122855"/>
          </a:solidFill>
          <a:ln w="31750">
            <a:solidFill>
              <a:srgbClr val="1A3C7D"/>
            </a:solidFill>
          </a:ln>
        </p:spPr>
        <p:txBody>
          <a:bodyPr/>
          <a:lstStyle/>
          <a:p/>
        </p:txBody>
      </p:sp>
      <p:sp>
        <p:nvSpPr>
          <p:cNvPr id="21" name="Rectangle 20"/>
          <p:cNvSpPr/>
          <p:nvPr/>
        </p:nvSpPr>
        <p:spPr>
          <a:xfrm>
            <a:off x="9107424" y="1517904"/>
            <a:ext cx="2505456" cy="20116"/>
          </a:xfrm>
          <a:prstGeom prst="rect">
            <a:avLst/>
          </a:prstGeom>
          <a:solidFill>
            <a:srgbClr val="1A3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07424" y="1261872"/>
            <a:ext cx="2505456" cy="256032"/>
          </a:xfrm>
          <a:prstGeom prst="rect">
            <a:avLst/>
          </a:prstGeom>
          <a:noFill/>
        </p:spPr>
        <p:txBody>
          <a:bodyPr wrap="square">
            <a:spAutoFit/>
          </a:bodyPr>
          <a:lstStyle/>
          <a:p>
            <a:pPr algn="ctr"/>
            <a:r>
              <a:rPr sz="750" b="0" i="0">
                <a:solidFill>
                  <a:srgbClr val="64B5F6"/>
                </a:solidFill>
                <a:latin typeface="Calibri"/>
              </a:rPr>
              <a:t>AVG DIFF. (2015–2023)</a:t>
            </a:r>
          </a:p>
        </p:txBody>
      </p:sp>
      <p:sp>
        <p:nvSpPr>
          <p:cNvPr id="23" name="TextBox 22"/>
          <p:cNvSpPr txBox="1"/>
          <p:nvPr/>
        </p:nvSpPr>
        <p:spPr>
          <a:xfrm>
            <a:off x="9107424" y="1591056"/>
            <a:ext cx="2505456" cy="777239"/>
          </a:xfrm>
          <a:prstGeom prst="rect">
            <a:avLst/>
          </a:prstGeom>
          <a:noFill/>
        </p:spPr>
        <p:txBody>
          <a:bodyPr wrap="square">
            <a:spAutoFit/>
          </a:bodyPr>
          <a:lstStyle/>
          <a:p>
            <a:pPr algn="ctr"/>
            <a:r>
              <a:rPr sz="2200" b="1" i="0">
                <a:solidFill>
                  <a:srgbClr val="90A4BE"/>
                </a:solidFill>
                <a:latin typeface="Calibri"/>
              </a:rPr>
              <a:t>10.8 pp</a:t>
            </a:r>
          </a:p>
        </p:txBody>
      </p:sp>
      <p:sp>
        <p:nvSpPr>
          <p:cNvPr id="24" name="TextBox 23"/>
          <p:cNvSpPr txBox="1"/>
          <p:nvPr/>
        </p:nvSpPr>
        <p:spPr>
          <a:xfrm>
            <a:off x="9107424" y="2258568"/>
            <a:ext cx="2505456" cy="182880"/>
          </a:xfrm>
          <a:prstGeom prst="rect">
            <a:avLst/>
          </a:prstGeom>
          <a:noFill/>
        </p:spPr>
        <p:txBody>
          <a:bodyPr wrap="square">
            <a:spAutoFit/>
          </a:bodyPr>
          <a:lstStyle/>
          <a:p>
            <a:pPr algn="ctr"/>
            <a:r>
              <a:rPr sz="700" b="0" i="0">
                <a:solidFill>
                  <a:srgbClr val="90A4BE"/>
                </a:solidFill>
                <a:latin typeface="Calibri"/>
              </a:rPr>
              <a:t>9-yr avg</a:t>
            </a:r>
          </a:p>
        </p:txBody>
      </p:sp>
      <p:sp>
        <p:nvSpPr>
          <p:cNvPr id="1" name="RndRect"/>
          <p:cNvSpPr>
            <a:spLocks noGrp="1"/>
          </p:cNvSpPr>
          <p:nvPr/>
        </p:nvSpPr>
        <p:spPr>
          <a:xfrm>
            <a:off x="256032" y="2651760"/>
            <a:ext cx="6812280" cy="3858768"/>
          </a:xfrm>
          <a:prstGeom prst="roundRect">
            <a:avLst>
              <a:gd name="adj" fmla="val 2073"/>
            </a:avLst>
          </a:prstGeom>
          <a:solidFill>
            <a:srgbClr val="122855"/>
          </a:solidFill>
          <a:ln w="12700">
            <a:solidFill>
              <a:srgbClr val="1A3C7D"/>
            </a:solidFill>
          </a:ln>
        </p:spPr>
        <p:txBody>
          <a:bodyPr/>
          <a:lstStyle/>
          <a:p/>
        </p:txBody>
      </p:sp>
      <p:pic>
        <p:nvPicPr>
          <p:cNvPr id="25" name="Picture 24" descr="image.png"/>
          <p:cNvPicPr>
            <a:picLocks noChangeAspect="1"/>
          </p:cNvPicPr>
          <p:nvPr/>
        </p:nvPicPr>
        <p:blipFill>
          <a:blip r:embed="rId2"/>
          <a:stretch>
            <a:fillRect/>
          </a:stretch>
        </p:blipFill>
        <p:spPr>
          <a:xfrm>
            <a:off x="384048" y="2761488"/>
            <a:ext cx="6583680" cy="3639312"/>
          </a:xfrm>
          <a:prstGeom prst="rect">
            <a:avLst/>
          </a:prstGeom>
        </p:spPr>
      </p:pic>
      <p:sp>
        <p:nvSpPr>
          <p:cNvPr id="1" name="RndRect"/>
          <p:cNvSpPr>
            <a:spLocks noGrp="1"/>
          </p:cNvSpPr>
          <p:nvPr/>
        </p:nvSpPr>
        <p:spPr>
          <a:xfrm>
            <a:off x="7223760" y="2651760"/>
            <a:ext cx="4709160" cy="3858768"/>
          </a:xfrm>
          <a:prstGeom prst="roundRect">
            <a:avLst>
              <a:gd name="adj" fmla="val 2073"/>
            </a:avLst>
          </a:prstGeom>
          <a:solidFill>
            <a:srgbClr val="122855"/>
          </a:solidFill>
          <a:ln w="12700">
            <a:solidFill>
              <a:srgbClr val="1A3C7D"/>
            </a:solidFill>
          </a:ln>
        </p:spPr>
        <p:txBody>
          <a:bodyPr/>
          <a:lstStyle/>
          <a:p/>
        </p:txBody>
      </p:sp>
      <p:pic>
        <p:nvPicPr>
          <p:cNvPr id="26" name="Picture 25" descr="image.png"/>
          <p:cNvPicPr>
            <a:picLocks noChangeAspect="1"/>
          </p:cNvPicPr>
          <p:nvPr/>
        </p:nvPicPr>
        <p:blipFill>
          <a:blip r:embed="rId3"/>
          <a:stretch>
            <a:fillRect/>
          </a:stretch>
        </p:blipFill>
        <p:spPr>
          <a:xfrm>
            <a:off x="7333488" y="2761488"/>
            <a:ext cx="4480560" cy="2331720"/>
          </a:xfrm>
          <a:prstGeom prst="rect">
            <a:avLst/>
          </a:prstGeom>
        </p:spPr>
      </p:pic>
      <p:sp>
        <p:nvSpPr>
          <p:cNvPr id="1" name="RndRect"/>
          <p:cNvSpPr>
            <a:spLocks noGrp="1"/>
          </p:cNvSpPr>
          <p:nvPr/>
        </p:nvSpPr>
        <p:spPr>
          <a:xfrm>
            <a:off x="7223760" y="5120640"/>
            <a:ext cx="4709160" cy="1389888"/>
          </a:xfrm>
          <a:prstGeom prst="roundRect">
            <a:avLst>
              <a:gd name="adj" fmla="val 4316"/>
            </a:avLst>
          </a:prstGeom>
          <a:solidFill>
            <a:srgbClr val="1A3C7D"/>
          </a:solidFill>
          <a:ln w="19050">
            <a:solidFill>
              <a:srgbClr val="F5A623"/>
            </a:solidFill>
          </a:ln>
        </p:spPr>
        <p:txBody>
          <a:bodyPr/>
          <a:lstStyle/>
          <a:p/>
        </p:txBody>
      </p:sp>
      <p:sp>
        <p:nvSpPr>
          <p:cNvPr id="27" name="TextBox 26"/>
          <p:cNvSpPr txBox="1"/>
          <p:nvPr/>
        </p:nvSpPr>
        <p:spPr>
          <a:xfrm>
            <a:off x="7388352" y="5193792"/>
            <a:ext cx="4297680" cy="256032"/>
          </a:xfrm>
          <a:prstGeom prst="rect">
            <a:avLst/>
          </a:prstGeom>
          <a:noFill/>
        </p:spPr>
        <p:txBody>
          <a:bodyPr wrap="square">
            <a:spAutoFit/>
          </a:bodyPr>
          <a:lstStyle/>
          <a:p>
            <a:pPr algn="l"/>
            <a:r>
              <a:rPr sz="750" b="1" i="0">
                <a:solidFill>
                  <a:srgbClr val="F5A623"/>
                </a:solidFill>
                <a:latin typeface="Calibri"/>
              </a:rPr>
              <a:t>PPP IMPLICATION</a:t>
            </a:r>
          </a:p>
        </p:txBody>
      </p:sp>
      <p:sp>
        <p:nvSpPr>
          <p:cNvPr id="28" name="TextBox 27"/>
          <p:cNvSpPr txBox="1"/>
          <p:nvPr/>
        </p:nvSpPr>
        <p:spPr>
          <a:xfrm>
            <a:off x="7388352" y="5440680"/>
            <a:ext cx="4389120" cy="987552"/>
          </a:xfrm>
          <a:prstGeom prst="rect">
            <a:avLst/>
          </a:prstGeom>
          <a:noFill/>
        </p:spPr>
        <p:txBody>
          <a:bodyPr wrap="square">
            <a:spAutoFit/>
          </a:bodyPr>
          <a:lstStyle/>
          <a:p>
            <a:pPr algn="l"/>
            <a:r>
              <a:rPr sz="800" b="0" i="0">
                <a:solidFill>
                  <a:srgbClr val="F4F7FC"/>
                </a:solidFill>
                <a:latin typeface="Calibri"/>
              </a:rPr>
              <a:t>Purchasing Power Parity theory dictates that sustained inflation differentials drive proportional exchange rate depreciation. Zambia's persistent 9–11 pp differential above US CPI continues to exert structural downward pressure on the ZMW.</a:t>
            </a:r>
          </a:p>
        </p:txBody>
      </p:sp>
      <p:sp>
        <p:nvSpPr>
          <p:cNvPr id="29" name="Rectangle 28"/>
          <p:cNvSpPr/>
          <p:nvPr/>
        </p:nvSpPr>
        <p:spPr>
          <a:xfrm>
            <a:off x="0" y="6556248"/>
            <a:ext cx="12188952" cy="301752"/>
          </a:xfrm>
          <a:prstGeom prst="rect">
            <a:avLst/>
          </a:prstGeom>
          <a:solidFill>
            <a:srgbClr val="12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0" y="6574536"/>
            <a:ext cx="12188952" cy="256032"/>
          </a:xfrm>
          <a:prstGeom prst="rect">
            <a:avLst/>
          </a:prstGeom>
          <a:noFill/>
        </p:spPr>
        <p:txBody>
          <a:bodyPr wrap="square">
            <a:spAutoFit/>
          </a:bodyPr>
          <a:lstStyle/>
          <a:p>
            <a:pPr algn="ctr"/>
            <a:r>
              <a:rPr sz="700" b="0" i="0">
                <a:solidFill>
                  <a:srgbClr val="90A4BE"/>
                </a:solidFill>
                <a:latin typeface="Calibri"/>
              </a:rPr>
              <a:t>SECTION 03  |  INFLATION ANALYSIS  |  PAGE 3 OF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24128"/>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10241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164592" y="164592"/>
            <a:ext cx="502920" cy="502920"/>
          </a:xfrm>
          <a:prstGeom prst="roundRect">
            <a:avLst>
              <a:gd name="adj" fmla="val 39767"/>
            </a:avLst>
          </a:prstGeom>
          <a:solidFill>
            <a:srgbClr val="1E88E5"/>
          </a:solidFill>
          <a:ln>
            <a:noFill/>
          </a:ln>
        </p:spPr>
        <p:txBody>
          <a:bodyPr/>
          <a:lstStyle/>
          <a:p/>
        </p:txBody>
      </p:sp>
      <p:sp>
        <p:nvSpPr>
          <p:cNvPr id="5" name="TextBox 4"/>
          <p:cNvSpPr txBox="1"/>
          <p:nvPr/>
        </p:nvSpPr>
        <p:spPr>
          <a:xfrm>
            <a:off x="164592" y="137160"/>
            <a:ext cx="502920" cy="548640"/>
          </a:xfrm>
          <a:prstGeom prst="rect">
            <a:avLst/>
          </a:prstGeom>
          <a:noFill/>
        </p:spPr>
        <p:txBody>
          <a:bodyPr wrap="square">
            <a:spAutoFit/>
          </a:bodyPr>
          <a:lstStyle/>
          <a:p>
            <a:pPr algn="ctr"/>
            <a:r>
              <a:rPr sz="1600" b="1" i="0">
                <a:solidFill>
                  <a:srgbClr val="FFFFFF"/>
                </a:solidFill>
                <a:latin typeface="Calibri"/>
              </a:rPr>
              <a:t>04</a:t>
            </a:r>
          </a:p>
        </p:txBody>
      </p:sp>
      <p:sp>
        <p:nvSpPr>
          <p:cNvPr id="6" name="TextBox 5"/>
          <p:cNvSpPr txBox="1"/>
          <p:nvPr/>
        </p:nvSpPr>
        <p:spPr>
          <a:xfrm>
            <a:off x="777240" y="91440"/>
            <a:ext cx="8686800" cy="502920"/>
          </a:xfrm>
          <a:prstGeom prst="rect">
            <a:avLst/>
          </a:prstGeom>
          <a:noFill/>
        </p:spPr>
        <p:txBody>
          <a:bodyPr wrap="square">
            <a:spAutoFit/>
          </a:bodyPr>
          <a:lstStyle/>
          <a:p>
            <a:pPr algn="l"/>
            <a:r>
              <a:rPr sz="2000" b="1" i="0">
                <a:solidFill>
                  <a:srgbClr val="FFFFFF"/>
                </a:solidFill>
                <a:latin typeface="Calibri"/>
              </a:rPr>
              <a:t>POLICY VERDICT &amp; RECOMMENDATIONS</a:t>
            </a:r>
          </a:p>
        </p:txBody>
      </p:sp>
      <p:sp>
        <p:nvSpPr>
          <p:cNvPr id="7" name="TextBox 6"/>
          <p:cNvSpPr txBox="1"/>
          <p:nvPr/>
        </p:nvSpPr>
        <p:spPr>
          <a:xfrm>
            <a:off x="777240" y="566928"/>
            <a:ext cx="8686800" cy="320040"/>
          </a:xfrm>
          <a:prstGeom prst="rect">
            <a:avLst/>
          </a:prstGeom>
          <a:noFill/>
        </p:spPr>
        <p:txBody>
          <a:bodyPr wrap="square">
            <a:spAutoFit/>
          </a:bodyPr>
          <a:lstStyle/>
          <a:p>
            <a:pPr algn="l"/>
            <a:r>
              <a:rPr sz="900" b="0" i="0">
                <a:solidFill>
                  <a:srgbClr val="64B5F6"/>
                </a:solidFill>
                <a:latin typeface="Calibri"/>
              </a:rPr>
              <a:t>Exchange Rate Alignment Assessment  ·  Strategic Guidance  ·  2023</a:t>
            </a:r>
          </a:p>
        </p:txBody>
      </p:sp>
      <p:sp>
        <p:nvSpPr>
          <p:cNvPr id="8" name="TextBox 7"/>
          <p:cNvSpPr txBox="1"/>
          <p:nvPr/>
        </p:nvSpPr>
        <p:spPr>
          <a:xfrm>
            <a:off x="9601200" y="347472"/>
            <a:ext cx="2468880" cy="320040"/>
          </a:xfrm>
          <a:prstGeom prst="rect">
            <a:avLst/>
          </a:prstGeom>
          <a:noFill/>
        </p:spPr>
        <p:txBody>
          <a:bodyPr wrap="square">
            <a:spAutoFit/>
          </a:bodyPr>
          <a:lstStyle/>
          <a:p>
            <a:pPr algn="r"/>
            <a:r>
              <a:rPr sz="650" b="0" i="0">
                <a:solidFill>
                  <a:srgbClr val="90A4BE"/>
                </a:solidFill>
                <a:latin typeface="Calibri"/>
              </a:rPr>
              <a:t>EXCHANGE RATE DETERMINATION | ZAMBIA</a:t>
            </a:r>
          </a:p>
        </p:txBody>
      </p:sp>
      <p:sp>
        <p:nvSpPr>
          <p:cNvPr id="1" name="RndRect"/>
          <p:cNvSpPr>
            <a:spLocks noGrp="1"/>
          </p:cNvSpPr>
          <p:nvPr/>
        </p:nvSpPr>
        <p:spPr>
          <a:xfrm>
            <a:off x="256032" y="1188720"/>
            <a:ext cx="11658600" cy="1417320"/>
          </a:xfrm>
          <a:prstGeom prst="roundRect">
            <a:avLst>
              <a:gd name="adj" fmla="val 6350"/>
            </a:avLst>
          </a:prstGeom>
          <a:solidFill>
            <a:srgbClr val="122855"/>
          </a:solidFill>
          <a:ln w="25400">
            <a:solidFill>
              <a:srgbClr val="E74C3C"/>
            </a:solidFill>
          </a:ln>
        </p:spPr>
        <p:txBody>
          <a:bodyPr/>
          <a:lstStyle/>
          <a:p/>
        </p:txBody>
      </p:sp>
      <p:sp>
        <p:nvSpPr>
          <p:cNvPr id="9" name="Rectangle 8"/>
          <p:cNvSpPr/>
          <p:nvPr/>
        </p:nvSpPr>
        <p:spPr>
          <a:xfrm>
            <a:off x="256032" y="1188720"/>
            <a:ext cx="82296" cy="141732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1261872"/>
            <a:ext cx="2286000" cy="274320"/>
          </a:xfrm>
          <a:prstGeom prst="rect">
            <a:avLst/>
          </a:prstGeom>
          <a:noFill/>
        </p:spPr>
        <p:txBody>
          <a:bodyPr wrap="square">
            <a:spAutoFit/>
          </a:bodyPr>
          <a:lstStyle/>
          <a:p>
            <a:pPr algn="l"/>
            <a:r>
              <a:rPr sz="800" b="1" i="0">
                <a:solidFill>
                  <a:srgbClr val="E74C3C"/>
                </a:solidFill>
                <a:latin typeface="Calibri"/>
              </a:rPr>
              <a:t>VERDICT</a:t>
            </a:r>
          </a:p>
        </p:txBody>
      </p:sp>
      <p:sp>
        <p:nvSpPr>
          <p:cNvPr id="11" name="TextBox 10"/>
          <p:cNvSpPr txBox="1"/>
          <p:nvPr/>
        </p:nvSpPr>
        <p:spPr>
          <a:xfrm>
            <a:off x="475488" y="1517904"/>
            <a:ext cx="8686800" cy="502920"/>
          </a:xfrm>
          <a:prstGeom prst="rect">
            <a:avLst/>
          </a:prstGeom>
          <a:noFill/>
        </p:spPr>
        <p:txBody>
          <a:bodyPr wrap="square">
            <a:spAutoFit/>
          </a:bodyPr>
          <a:lstStyle/>
          <a:p>
            <a:pPr algn="l"/>
            <a:r>
              <a:rPr sz="1800" b="1" i="0">
                <a:solidFill>
                  <a:srgbClr val="FFFFFF"/>
                </a:solidFill>
                <a:latin typeface="Calibri"/>
              </a:rPr>
              <a:t>DEPRECIATION PRESSURE — APPROACHING POLICY BOUNDS</a:t>
            </a:r>
          </a:p>
        </p:txBody>
      </p:sp>
      <p:sp>
        <p:nvSpPr>
          <p:cNvPr id="12" name="TextBox 11"/>
          <p:cNvSpPr txBox="1"/>
          <p:nvPr/>
        </p:nvSpPr>
        <p:spPr>
          <a:xfrm>
            <a:off x="475488" y="1975104"/>
            <a:ext cx="8686800" cy="502920"/>
          </a:xfrm>
          <a:prstGeom prst="rect">
            <a:avLst/>
          </a:prstGeom>
          <a:noFill/>
        </p:spPr>
        <p:txBody>
          <a:bodyPr wrap="square">
            <a:spAutoFit/>
          </a:bodyPr>
          <a:lstStyle/>
          <a:p>
            <a:pPr algn="l"/>
            <a:r>
              <a:rPr sz="900" b="0" i="0">
                <a:solidFill>
                  <a:srgbClr val="90A4BE"/>
                </a:solidFill>
                <a:latin typeface="Calibri"/>
              </a:rPr>
              <a:t>The ZMW/USD rate of 20.89 (2023) exceeds the PPP target (19.50) and is tracking toward the upper bound (22.98). The 9.4 pp inflation differential reinforces continued depreciation risk.</a:t>
            </a:r>
          </a:p>
        </p:txBody>
      </p:sp>
      <p:pic>
        <p:nvPicPr>
          <p:cNvPr id="13" name="Picture 12" descr="image.png"/>
          <p:cNvPicPr>
            <a:picLocks noChangeAspect="1"/>
          </p:cNvPicPr>
          <p:nvPr/>
        </p:nvPicPr>
        <p:blipFill>
          <a:blip r:embed="rId2"/>
          <a:stretch>
            <a:fillRect/>
          </a:stretch>
        </p:blipFill>
        <p:spPr>
          <a:xfrm>
            <a:off x="9281160" y="1170432"/>
            <a:ext cx="2670048" cy="1463040"/>
          </a:xfrm>
          <a:prstGeom prst="rect">
            <a:avLst/>
          </a:prstGeom>
        </p:spPr>
      </p:pic>
      <p:sp>
        <p:nvSpPr>
          <p:cNvPr id="1" name="RndRect"/>
          <p:cNvSpPr>
            <a:spLocks noGrp="1"/>
          </p:cNvSpPr>
          <p:nvPr/>
        </p:nvSpPr>
        <p:spPr>
          <a:xfrm>
            <a:off x="256032" y="2852928"/>
            <a:ext cx="5760720" cy="1627632"/>
          </a:xfrm>
          <a:prstGeom prst="roundRect">
            <a:avLst>
              <a:gd name="adj" fmla="val 4915"/>
            </a:avLst>
          </a:prstGeom>
          <a:solidFill>
            <a:srgbClr val="122855"/>
          </a:solidFill>
          <a:ln w="19050">
            <a:solidFill>
              <a:srgbClr val="1E88E5"/>
            </a:solidFill>
          </a:ln>
        </p:spPr>
        <p:txBody>
          <a:bodyPr/>
          <a:lstStyle/>
          <a:p/>
        </p:txBody>
      </p:sp>
      <p:sp>
        <p:nvSpPr>
          <p:cNvPr id="14" name="Rectangle 13"/>
          <p:cNvSpPr/>
          <p:nvPr/>
        </p:nvSpPr>
        <p:spPr>
          <a:xfrm>
            <a:off x="256032" y="2852928"/>
            <a:ext cx="73152" cy="1627632"/>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457200" y="3054096"/>
            <a:ext cx="502920" cy="502920"/>
          </a:xfrm>
          <a:prstGeom prst="roundRect">
            <a:avLst>
              <a:gd name="adj" fmla="val 39767"/>
            </a:avLst>
          </a:prstGeom>
          <a:solidFill>
            <a:srgbClr val="1E88E5"/>
          </a:solidFill>
          <a:ln>
            <a:noFill/>
          </a:ln>
        </p:spPr>
        <p:txBody>
          <a:bodyPr/>
          <a:lstStyle/>
          <a:p/>
        </p:txBody>
      </p:sp>
      <p:sp>
        <p:nvSpPr>
          <p:cNvPr id="15" name="TextBox 14"/>
          <p:cNvSpPr txBox="1"/>
          <p:nvPr/>
        </p:nvSpPr>
        <p:spPr>
          <a:xfrm>
            <a:off x="438912" y="2999232"/>
            <a:ext cx="548640" cy="502920"/>
          </a:xfrm>
          <a:prstGeom prst="rect">
            <a:avLst/>
          </a:prstGeom>
          <a:noFill/>
        </p:spPr>
        <p:txBody>
          <a:bodyPr wrap="square">
            <a:spAutoFit/>
          </a:bodyPr>
          <a:lstStyle/>
          <a:p>
            <a:pPr algn="ctr"/>
            <a:r>
              <a:rPr sz="1100" b="1" i="0">
                <a:solidFill>
                  <a:srgbClr val="FFFFFF"/>
                </a:solidFill>
                <a:latin typeface="Calibri"/>
              </a:rPr>
              <a:t>01</a:t>
            </a:r>
          </a:p>
        </p:txBody>
      </p:sp>
      <p:sp>
        <p:nvSpPr>
          <p:cNvPr id="16" name="TextBox 15"/>
          <p:cNvSpPr txBox="1"/>
          <p:nvPr/>
        </p:nvSpPr>
        <p:spPr>
          <a:xfrm>
            <a:off x="1097280" y="3017520"/>
            <a:ext cx="4754880" cy="347472"/>
          </a:xfrm>
          <a:prstGeom prst="rect">
            <a:avLst/>
          </a:prstGeom>
          <a:noFill/>
        </p:spPr>
        <p:txBody>
          <a:bodyPr wrap="square">
            <a:spAutoFit/>
          </a:bodyPr>
          <a:lstStyle/>
          <a:p>
            <a:pPr algn="l"/>
            <a:r>
              <a:rPr sz="1050" b="1" i="0">
                <a:solidFill>
                  <a:srgbClr val="FFFFFF"/>
                </a:solidFill>
                <a:latin typeface="Calibri"/>
              </a:rPr>
              <a:t>Monetary Policy Tightening</a:t>
            </a:r>
          </a:p>
        </p:txBody>
      </p:sp>
      <p:sp>
        <p:nvSpPr>
          <p:cNvPr id="17" name="Rectangle 16"/>
          <p:cNvSpPr/>
          <p:nvPr/>
        </p:nvSpPr>
        <p:spPr>
          <a:xfrm>
            <a:off x="1097280" y="3383280"/>
            <a:ext cx="4572000" cy="20116"/>
          </a:xfrm>
          <a:prstGeom prst="rect">
            <a:avLst/>
          </a:prstGeom>
          <a:solidFill>
            <a:srgbClr val="1A3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474720"/>
            <a:ext cx="4754880" cy="914400"/>
          </a:xfrm>
          <a:prstGeom prst="rect">
            <a:avLst/>
          </a:prstGeom>
          <a:noFill/>
        </p:spPr>
        <p:txBody>
          <a:bodyPr wrap="square">
            <a:spAutoFit/>
          </a:bodyPr>
          <a:lstStyle/>
          <a:p>
            <a:pPr algn="l"/>
            <a:r>
              <a:rPr sz="800" b="0" i="0">
                <a:solidFill>
                  <a:srgbClr val="90A4BE"/>
                </a:solidFill>
                <a:latin typeface="Calibri"/>
              </a:rPr>
              <a:t>The Reserve Bank of Zambia should consider targeted rate adjustments to moderate inflation and slow the depreciation trajectory.</a:t>
            </a:r>
          </a:p>
        </p:txBody>
      </p:sp>
      <p:sp>
        <p:nvSpPr>
          <p:cNvPr id="1" name="RndRect"/>
          <p:cNvSpPr>
            <a:spLocks noGrp="1"/>
          </p:cNvSpPr>
          <p:nvPr/>
        </p:nvSpPr>
        <p:spPr>
          <a:xfrm>
            <a:off x="6217920" y="2852928"/>
            <a:ext cx="5760720" cy="1627632"/>
          </a:xfrm>
          <a:prstGeom prst="roundRect">
            <a:avLst>
              <a:gd name="adj" fmla="val 4915"/>
            </a:avLst>
          </a:prstGeom>
          <a:solidFill>
            <a:srgbClr val="122855"/>
          </a:solidFill>
          <a:ln w="19050">
            <a:solidFill>
              <a:srgbClr val="00ACD7"/>
            </a:solidFill>
          </a:ln>
        </p:spPr>
        <p:txBody>
          <a:bodyPr/>
          <a:lstStyle/>
          <a:p/>
        </p:txBody>
      </p:sp>
      <p:sp>
        <p:nvSpPr>
          <p:cNvPr id="19" name="Rectangle 18"/>
          <p:cNvSpPr/>
          <p:nvPr/>
        </p:nvSpPr>
        <p:spPr>
          <a:xfrm>
            <a:off x="6217920" y="2852928"/>
            <a:ext cx="73152" cy="1627632"/>
          </a:xfrm>
          <a:prstGeom prst="rect">
            <a:avLst/>
          </a:prstGeom>
          <a:solidFill>
            <a:srgbClr val="0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6419088" y="3054096"/>
            <a:ext cx="502920" cy="502920"/>
          </a:xfrm>
          <a:prstGeom prst="roundRect">
            <a:avLst>
              <a:gd name="adj" fmla="val 39767"/>
            </a:avLst>
          </a:prstGeom>
          <a:solidFill>
            <a:srgbClr val="00ACD7"/>
          </a:solidFill>
          <a:ln>
            <a:noFill/>
          </a:ln>
        </p:spPr>
        <p:txBody>
          <a:bodyPr/>
          <a:lstStyle/>
          <a:p/>
        </p:txBody>
      </p:sp>
      <p:sp>
        <p:nvSpPr>
          <p:cNvPr id="20" name="TextBox 19"/>
          <p:cNvSpPr txBox="1"/>
          <p:nvPr/>
        </p:nvSpPr>
        <p:spPr>
          <a:xfrm>
            <a:off x="6400800" y="2999232"/>
            <a:ext cx="548640" cy="502920"/>
          </a:xfrm>
          <a:prstGeom prst="rect">
            <a:avLst/>
          </a:prstGeom>
          <a:noFill/>
        </p:spPr>
        <p:txBody>
          <a:bodyPr wrap="square">
            <a:spAutoFit/>
          </a:bodyPr>
          <a:lstStyle/>
          <a:p>
            <a:pPr algn="ctr"/>
            <a:r>
              <a:rPr sz="1100" b="1" i="0">
                <a:solidFill>
                  <a:srgbClr val="FFFFFF"/>
                </a:solidFill>
                <a:latin typeface="Calibri"/>
              </a:rPr>
              <a:t>02</a:t>
            </a:r>
          </a:p>
        </p:txBody>
      </p:sp>
      <p:sp>
        <p:nvSpPr>
          <p:cNvPr id="21" name="TextBox 20"/>
          <p:cNvSpPr txBox="1"/>
          <p:nvPr/>
        </p:nvSpPr>
        <p:spPr>
          <a:xfrm>
            <a:off x="7059168" y="3017520"/>
            <a:ext cx="4754880" cy="347472"/>
          </a:xfrm>
          <a:prstGeom prst="rect">
            <a:avLst/>
          </a:prstGeom>
          <a:noFill/>
        </p:spPr>
        <p:txBody>
          <a:bodyPr wrap="square">
            <a:spAutoFit/>
          </a:bodyPr>
          <a:lstStyle/>
          <a:p>
            <a:pPr algn="l"/>
            <a:r>
              <a:rPr sz="1050" b="1" i="0">
                <a:solidFill>
                  <a:srgbClr val="FFFFFF"/>
                </a:solidFill>
                <a:latin typeface="Calibri"/>
              </a:rPr>
              <a:t>FX Market Intervention</a:t>
            </a:r>
          </a:p>
        </p:txBody>
      </p:sp>
      <p:sp>
        <p:nvSpPr>
          <p:cNvPr id="22" name="Rectangle 21"/>
          <p:cNvSpPr/>
          <p:nvPr/>
        </p:nvSpPr>
        <p:spPr>
          <a:xfrm>
            <a:off x="7059168" y="3383280"/>
            <a:ext cx="4572000" cy="20116"/>
          </a:xfrm>
          <a:prstGeom prst="rect">
            <a:avLst/>
          </a:prstGeom>
          <a:solidFill>
            <a:srgbClr val="1A3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9168" y="3474720"/>
            <a:ext cx="4754880" cy="914400"/>
          </a:xfrm>
          <a:prstGeom prst="rect">
            <a:avLst/>
          </a:prstGeom>
          <a:noFill/>
        </p:spPr>
        <p:txBody>
          <a:bodyPr wrap="square">
            <a:spAutoFit/>
          </a:bodyPr>
          <a:lstStyle/>
          <a:p>
            <a:pPr algn="l"/>
            <a:r>
              <a:rPr sz="800" b="0" i="0">
                <a:solidFill>
                  <a:srgbClr val="90A4BE"/>
                </a:solidFill>
                <a:latin typeface="Calibri"/>
              </a:rPr>
              <a:t>Strategic FX reserves deployment at key technical levels (21.50–22.00 ZMW/USD) can dampen excessive volatility.</a:t>
            </a:r>
          </a:p>
        </p:txBody>
      </p:sp>
      <p:sp>
        <p:nvSpPr>
          <p:cNvPr id="1" name="RndRect"/>
          <p:cNvSpPr>
            <a:spLocks noGrp="1"/>
          </p:cNvSpPr>
          <p:nvPr/>
        </p:nvSpPr>
        <p:spPr>
          <a:xfrm>
            <a:off x="256032" y="4636008"/>
            <a:ext cx="5760720" cy="1627632"/>
          </a:xfrm>
          <a:prstGeom prst="roundRect">
            <a:avLst>
              <a:gd name="adj" fmla="val 4915"/>
            </a:avLst>
          </a:prstGeom>
          <a:solidFill>
            <a:srgbClr val="122855"/>
          </a:solidFill>
          <a:ln w="19050">
            <a:solidFill>
              <a:srgbClr val="F5A623"/>
            </a:solidFill>
          </a:ln>
        </p:spPr>
        <p:txBody>
          <a:bodyPr/>
          <a:lstStyle/>
          <a:p/>
        </p:txBody>
      </p:sp>
      <p:sp>
        <p:nvSpPr>
          <p:cNvPr id="24" name="Rectangle 23"/>
          <p:cNvSpPr/>
          <p:nvPr/>
        </p:nvSpPr>
        <p:spPr>
          <a:xfrm>
            <a:off x="256032" y="4636008"/>
            <a:ext cx="73152" cy="16276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457200" y="4837176"/>
            <a:ext cx="502920" cy="502920"/>
          </a:xfrm>
          <a:prstGeom prst="roundRect">
            <a:avLst>
              <a:gd name="adj" fmla="val 39767"/>
            </a:avLst>
          </a:prstGeom>
          <a:solidFill>
            <a:srgbClr val="F5A623"/>
          </a:solidFill>
          <a:ln>
            <a:noFill/>
          </a:ln>
        </p:spPr>
        <p:txBody>
          <a:bodyPr/>
          <a:lstStyle/>
          <a:p/>
        </p:txBody>
      </p:sp>
      <p:sp>
        <p:nvSpPr>
          <p:cNvPr id="25" name="TextBox 24"/>
          <p:cNvSpPr txBox="1"/>
          <p:nvPr/>
        </p:nvSpPr>
        <p:spPr>
          <a:xfrm>
            <a:off x="438912" y="4782312"/>
            <a:ext cx="548640" cy="502920"/>
          </a:xfrm>
          <a:prstGeom prst="rect">
            <a:avLst/>
          </a:prstGeom>
          <a:noFill/>
        </p:spPr>
        <p:txBody>
          <a:bodyPr wrap="square">
            <a:spAutoFit/>
          </a:bodyPr>
          <a:lstStyle/>
          <a:p>
            <a:pPr algn="ctr"/>
            <a:r>
              <a:rPr sz="1100" b="1" i="0">
                <a:solidFill>
                  <a:srgbClr val="FFFFFF"/>
                </a:solidFill>
                <a:latin typeface="Calibri"/>
              </a:rPr>
              <a:t>03</a:t>
            </a:r>
          </a:p>
        </p:txBody>
      </p:sp>
      <p:sp>
        <p:nvSpPr>
          <p:cNvPr id="26" name="TextBox 25"/>
          <p:cNvSpPr txBox="1"/>
          <p:nvPr/>
        </p:nvSpPr>
        <p:spPr>
          <a:xfrm>
            <a:off x="1097280" y="4800600"/>
            <a:ext cx="4754880" cy="347472"/>
          </a:xfrm>
          <a:prstGeom prst="rect">
            <a:avLst/>
          </a:prstGeom>
          <a:noFill/>
        </p:spPr>
        <p:txBody>
          <a:bodyPr wrap="square">
            <a:spAutoFit/>
          </a:bodyPr>
          <a:lstStyle/>
          <a:p>
            <a:pPr algn="l"/>
            <a:r>
              <a:rPr sz="1050" b="1" i="0">
                <a:solidFill>
                  <a:srgbClr val="FFFFFF"/>
                </a:solidFill>
                <a:latin typeface="Calibri"/>
              </a:rPr>
              <a:t>Inflation Anchor Framework</a:t>
            </a:r>
          </a:p>
        </p:txBody>
      </p:sp>
      <p:sp>
        <p:nvSpPr>
          <p:cNvPr id="27" name="Rectangle 26"/>
          <p:cNvSpPr/>
          <p:nvPr/>
        </p:nvSpPr>
        <p:spPr>
          <a:xfrm>
            <a:off x="1097280" y="5166360"/>
            <a:ext cx="4572000" cy="20116"/>
          </a:xfrm>
          <a:prstGeom prst="rect">
            <a:avLst/>
          </a:prstGeom>
          <a:solidFill>
            <a:srgbClr val="1A3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257800"/>
            <a:ext cx="4754880" cy="914400"/>
          </a:xfrm>
          <a:prstGeom prst="rect">
            <a:avLst/>
          </a:prstGeom>
          <a:noFill/>
        </p:spPr>
        <p:txBody>
          <a:bodyPr wrap="square">
            <a:spAutoFit/>
          </a:bodyPr>
          <a:lstStyle/>
          <a:p>
            <a:pPr algn="l"/>
            <a:r>
              <a:rPr sz="800" b="0" i="0">
                <a:solidFill>
                  <a:srgbClr val="90A4BE"/>
                </a:solidFill>
                <a:latin typeface="Calibri"/>
              </a:rPr>
              <a:t>Implement an explicit inflation targeting band of 6–8% to close the inflation differential gap with the US over a 3-year horizon.</a:t>
            </a:r>
          </a:p>
        </p:txBody>
      </p:sp>
      <p:sp>
        <p:nvSpPr>
          <p:cNvPr id="1" name="RndRect"/>
          <p:cNvSpPr>
            <a:spLocks noGrp="1"/>
          </p:cNvSpPr>
          <p:nvPr/>
        </p:nvSpPr>
        <p:spPr>
          <a:xfrm>
            <a:off x="6217920" y="4636008"/>
            <a:ext cx="5760720" cy="1627632"/>
          </a:xfrm>
          <a:prstGeom prst="roundRect">
            <a:avLst>
              <a:gd name="adj" fmla="val 4915"/>
            </a:avLst>
          </a:prstGeom>
          <a:solidFill>
            <a:srgbClr val="122855"/>
          </a:solidFill>
          <a:ln w="19050">
            <a:solidFill>
              <a:srgbClr val="2ECC71"/>
            </a:solidFill>
          </a:ln>
        </p:spPr>
        <p:txBody>
          <a:bodyPr/>
          <a:lstStyle/>
          <a:p/>
        </p:txBody>
      </p:sp>
      <p:sp>
        <p:nvSpPr>
          <p:cNvPr id="29" name="Rectangle 28"/>
          <p:cNvSpPr/>
          <p:nvPr/>
        </p:nvSpPr>
        <p:spPr>
          <a:xfrm>
            <a:off x="6217920" y="4636008"/>
            <a:ext cx="73152" cy="1627632"/>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 name="RndRect"/>
          <p:cNvSpPr>
            <a:spLocks noGrp="1"/>
          </p:cNvSpPr>
          <p:nvPr/>
        </p:nvSpPr>
        <p:spPr>
          <a:xfrm>
            <a:off x="6419088" y="4837176"/>
            <a:ext cx="502920" cy="502920"/>
          </a:xfrm>
          <a:prstGeom prst="roundRect">
            <a:avLst>
              <a:gd name="adj" fmla="val 39767"/>
            </a:avLst>
          </a:prstGeom>
          <a:solidFill>
            <a:srgbClr val="2ECC71"/>
          </a:solidFill>
          <a:ln>
            <a:noFill/>
          </a:ln>
        </p:spPr>
        <p:txBody>
          <a:bodyPr/>
          <a:lstStyle/>
          <a:p/>
        </p:txBody>
      </p:sp>
      <p:sp>
        <p:nvSpPr>
          <p:cNvPr id="30" name="TextBox 29"/>
          <p:cNvSpPr txBox="1"/>
          <p:nvPr/>
        </p:nvSpPr>
        <p:spPr>
          <a:xfrm>
            <a:off x="6400800" y="4782312"/>
            <a:ext cx="548640" cy="502920"/>
          </a:xfrm>
          <a:prstGeom prst="rect">
            <a:avLst/>
          </a:prstGeom>
          <a:noFill/>
        </p:spPr>
        <p:txBody>
          <a:bodyPr wrap="square">
            <a:spAutoFit/>
          </a:bodyPr>
          <a:lstStyle/>
          <a:p>
            <a:pPr algn="ctr"/>
            <a:r>
              <a:rPr sz="1100" b="1" i="0">
                <a:solidFill>
                  <a:srgbClr val="FFFFFF"/>
                </a:solidFill>
                <a:latin typeface="Calibri"/>
              </a:rPr>
              <a:t>04</a:t>
            </a:r>
          </a:p>
        </p:txBody>
      </p:sp>
      <p:sp>
        <p:nvSpPr>
          <p:cNvPr id="31" name="TextBox 30"/>
          <p:cNvSpPr txBox="1"/>
          <p:nvPr/>
        </p:nvSpPr>
        <p:spPr>
          <a:xfrm>
            <a:off x="7059168" y="4800600"/>
            <a:ext cx="4754880" cy="347472"/>
          </a:xfrm>
          <a:prstGeom prst="rect">
            <a:avLst/>
          </a:prstGeom>
          <a:noFill/>
        </p:spPr>
        <p:txBody>
          <a:bodyPr wrap="square">
            <a:spAutoFit/>
          </a:bodyPr>
          <a:lstStyle/>
          <a:p>
            <a:pPr algn="l"/>
            <a:r>
              <a:rPr sz="1050" b="1" i="0">
                <a:solidFill>
                  <a:srgbClr val="FFFFFF"/>
                </a:solidFill>
                <a:latin typeface="Calibri"/>
              </a:rPr>
              <a:t>PPP Monitoring Dashboard</a:t>
            </a:r>
          </a:p>
        </p:txBody>
      </p:sp>
      <p:sp>
        <p:nvSpPr>
          <p:cNvPr id="32" name="Rectangle 31"/>
          <p:cNvSpPr/>
          <p:nvPr/>
        </p:nvSpPr>
        <p:spPr>
          <a:xfrm>
            <a:off x="7059168" y="5166360"/>
            <a:ext cx="4572000" cy="20116"/>
          </a:xfrm>
          <a:prstGeom prst="rect">
            <a:avLst/>
          </a:prstGeom>
          <a:solidFill>
            <a:srgbClr val="1A3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59168" y="5257800"/>
            <a:ext cx="4754880" cy="914400"/>
          </a:xfrm>
          <a:prstGeom prst="rect">
            <a:avLst/>
          </a:prstGeom>
          <a:noFill/>
        </p:spPr>
        <p:txBody>
          <a:bodyPr wrap="square">
            <a:spAutoFit/>
          </a:bodyPr>
          <a:lstStyle/>
          <a:p>
            <a:pPr algn="l"/>
            <a:r>
              <a:rPr sz="800" b="0" i="0">
                <a:solidFill>
                  <a:srgbClr val="90A4BE"/>
                </a:solidFill>
                <a:latin typeface="Calibri"/>
              </a:rPr>
              <a:t>Establish a quarterly PPP equilibrium review against the Optimal Target Rate to provide early-warning signals for policy intervention.</a:t>
            </a:r>
          </a:p>
        </p:txBody>
      </p:sp>
      <p:sp>
        <p:nvSpPr>
          <p:cNvPr id="34" name="Rectangle 33"/>
          <p:cNvSpPr/>
          <p:nvPr/>
        </p:nvSpPr>
        <p:spPr>
          <a:xfrm>
            <a:off x="0" y="6556248"/>
            <a:ext cx="12188952" cy="301752"/>
          </a:xfrm>
          <a:prstGeom prst="rect">
            <a:avLst/>
          </a:prstGeom>
          <a:solidFill>
            <a:srgbClr val="122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0" y="6574536"/>
            <a:ext cx="12188952" cy="256032"/>
          </a:xfrm>
          <a:prstGeom prst="rect">
            <a:avLst/>
          </a:prstGeom>
          <a:noFill/>
        </p:spPr>
        <p:txBody>
          <a:bodyPr wrap="square">
            <a:spAutoFit/>
          </a:bodyPr>
          <a:lstStyle/>
          <a:p>
            <a:pPr algn="ctr"/>
            <a:r>
              <a:rPr sz="700" b="0" i="0">
                <a:solidFill>
                  <a:srgbClr val="90A4BE"/>
                </a:solidFill>
                <a:latin typeface="Calibri"/>
              </a:rPr>
              <a:t>SECTION 04  |  POLICY VERDICT &amp; RECOMMENDATIONS  |  PAGE 4 OF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1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2"/>
          <p:cNvSpPr>
            <a:spLocks noGrp="1"/>
          </p:cNvSpPr>
          <p:nvPr/>
        </p:nvSpPr>
        <p:spPr>
          <a:xfrm>
            <a:off x="9144000" y="-1371600"/>
            <a:ext cx="4572000" cy="4572000"/>
          </a:xfrm>
          <a:prstGeom prst="ellipse">
            <a:avLst/>
          </a:prstGeom>
          <a:solidFill>
            <a:srgbClr val="1A3C7D">
              <a:alpha val="18000"/>
            </a:srgbClr>
          </a:solidFill>
          <a:ln>
            <a:noFill/>
          </a:ln>
        </p:spPr>
        <p:txBody>
          <a:bodyPr/>
          <a:lstStyle/>
          <a:p/>
        </p:txBody>
      </p:sp>
      <p:sp>
        <p:nvSpPr>
          <p:cNvPr id="88" name="c2"/>
          <p:cNvSpPr>
            <a:spLocks noGrp="1"/>
          </p:cNvSpPr>
          <p:nvPr/>
        </p:nvSpPr>
        <p:spPr>
          <a:xfrm>
            <a:off x="-914400" y="4114800"/>
            <a:ext cx="3657600" cy="3657600"/>
          </a:xfrm>
          <a:prstGeom prst="ellipse">
            <a:avLst/>
          </a:prstGeom>
          <a:solidFill>
            <a:srgbClr val="1A3C7D">
              <a:alpha val="15000"/>
            </a:srgbClr>
          </a:solidFill>
          <a:ln>
            <a:noFill/>
          </a:ln>
        </p:spPr>
        <p:txBody>
          <a:bodyPr/>
          <a:lstStyle/>
          <a:p/>
        </p:txBody>
      </p:sp>
      <p:sp>
        <p:nvSpPr>
          <p:cNvPr id="88" name="c2"/>
          <p:cNvSpPr>
            <a:spLocks noGrp="1"/>
          </p:cNvSpPr>
          <p:nvPr/>
        </p:nvSpPr>
        <p:spPr>
          <a:xfrm>
            <a:off x="9418320" y="4846320"/>
            <a:ext cx="2743200" cy="2743200"/>
          </a:xfrm>
          <a:prstGeom prst="ellipse">
            <a:avLst/>
          </a:prstGeom>
          <a:solidFill>
            <a:srgbClr val="1E88E5">
              <a:alpha val="10000"/>
            </a:srgbClr>
          </a:solidFill>
          <a:ln>
            <a:noFill/>
          </a:ln>
        </p:spPr>
        <p:txBody>
          <a:bodyPr/>
          <a:lstStyle/>
          <a:p/>
        </p:txBody>
      </p:sp>
      <p:sp>
        <p:nvSpPr>
          <p:cNvPr id="89" name="Rectangle 88"/>
          <p:cNvSpPr/>
          <p:nvPr/>
        </p:nvSpPr>
        <p:spPr>
          <a:xfrm>
            <a:off x="3840480" y="0"/>
            <a:ext cx="54864"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11480" y="914400"/>
            <a:ext cx="3246120" cy="457200"/>
          </a:xfrm>
          <a:prstGeom prst="rect">
            <a:avLst/>
          </a:prstGeom>
          <a:noFill/>
        </p:spPr>
        <p:txBody>
          <a:bodyPr wrap="square">
            <a:spAutoFit/>
          </a:bodyPr>
          <a:lstStyle/>
          <a:p>
            <a:pPr algn="l"/>
            <a:r>
              <a:rPr sz="1000" b="1" i="0">
                <a:solidFill>
                  <a:srgbClr val="F5A623"/>
                </a:solidFill>
                <a:latin typeface="Calibri"/>
              </a:rPr>
              <a:t>ANALYSIS SUMMARY</a:t>
            </a:r>
          </a:p>
        </p:txBody>
      </p:sp>
      <p:sp>
        <p:nvSpPr>
          <p:cNvPr id="91" name="Rectangle 90"/>
          <p:cNvSpPr/>
          <p:nvPr/>
        </p:nvSpPr>
        <p:spPr>
          <a:xfrm>
            <a:off x="411480" y="1508760"/>
            <a:ext cx="45720" cy="86868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94360" y="1508760"/>
            <a:ext cx="2560320" cy="475488"/>
          </a:xfrm>
          <a:prstGeom prst="rect">
            <a:avLst/>
          </a:prstGeom>
          <a:noFill/>
        </p:spPr>
        <p:txBody>
          <a:bodyPr wrap="square">
            <a:spAutoFit/>
          </a:bodyPr>
          <a:lstStyle/>
          <a:p>
            <a:pPr algn="l"/>
            <a:r>
              <a:rPr sz="2000" b="1" i="0">
                <a:solidFill>
                  <a:srgbClr val="FFFFFF"/>
                </a:solidFill>
                <a:latin typeface="Calibri"/>
              </a:rPr>
              <a:t>143%</a:t>
            </a:r>
          </a:p>
        </p:txBody>
      </p:sp>
      <p:sp>
        <p:nvSpPr>
          <p:cNvPr id="93" name="TextBox 92"/>
          <p:cNvSpPr txBox="1"/>
          <p:nvPr/>
        </p:nvSpPr>
        <p:spPr>
          <a:xfrm>
            <a:off x="594360" y="1965960"/>
            <a:ext cx="3017520" cy="347472"/>
          </a:xfrm>
          <a:prstGeom prst="rect">
            <a:avLst/>
          </a:prstGeom>
          <a:noFill/>
        </p:spPr>
        <p:txBody>
          <a:bodyPr wrap="square">
            <a:spAutoFit/>
          </a:bodyPr>
          <a:lstStyle/>
          <a:p>
            <a:pPr algn="l"/>
            <a:r>
              <a:rPr sz="800" b="0" i="0">
                <a:solidFill>
                  <a:srgbClr val="90A4BE"/>
                </a:solidFill>
                <a:latin typeface="Calibri"/>
              </a:rPr>
              <a:t>Cumulative ZMW Depreciation
2015–2023</a:t>
            </a:r>
          </a:p>
        </p:txBody>
      </p:sp>
      <p:sp>
        <p:nvSpPr>
          <p:cNvPr id="94" name="Rectangle 93"/>
          <p:cNvSpPr/>
          <p:nvPr/>
        </p:nvSpPr>
        <p:spPr>
          <a:xfrm>
            <a:off x="411480" y="2679191"/>
            <a:ext cx="45720" cy="86868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4360" y="2679191"/>
            <a:ext cx="2560320" cy="475488"/>
          </a:xfrm>
          <a:prstGeom prst="rect">
            <a:avLst/>
          </a:prstGeom>
          <a:noFill/>
        </p:spPr>
        <p:txBody>
          <a:bodyPr wrap="square">
            <a:spAutoFit/>
          </a:bodyPr>
          <a:lstStyle/>
          <a:p>
            <a:pPr algn="l"/>
            <a:r>
              <a:rPr sz="2000" b="1" i="0">
                <a:solidFill>
                  <a:srgbClr val="FFFFFF"/>
                </a:solidFill>
                <a:latin typeface="Calibri"/>
              </a:rPr>
              <a:t>20.89</a:t>
            </a:r>
          </a:p>
        </p:txBody>
      </p:sp>
      <p:sp>
        <p:nvSpPr>
          <p:cNvPr id="96" name="TextBox 95"/>
          <p:cNvSpPr txBox="1"/>
          <p:nvPr/>
        </p:nvSpPr>
        <p:spPr>
          <a:xfrm>
            <a:off x="594360" y="3136391"/>
            <a:ext cx="3017520" cy="347472"/>
          </a:xfrm>
          <a:prstGeom prst="rect">
            <a:avLst/>
          </a:prstGeom>
          <a:noFill/>
        </p:spPr>
        <p:txBody>
          <a:bodyPr wrap="square">
            <a:spAutoFit/>
          </a:bodyPr>
          <a:lstStyle/>
          <a:p>
            <a:pPr algn="l"/>
            <a:r>
              <a:rPr sz="800" b="0" i="0">
                <a:solidFill>
                  <a:srgbClr val="90A4BE"/>
                </a:solidFill>
                <a:latin typeface="Calibri"/>
              </a:rPr>
              <a:t>ZMW/USD Avg Rate (2023)</a:t>
            </a:r>
          </a:p>
        </p:txBody>
      </p:sp>
      <p:sp>
        <p:nvSpPr>
          <p:cNvPr id="97" name="Rectangle 96"/>
          <p:cNvSpPr/>
          <p:nvPr/>
        </p:nvSpPr>
        <p:spPr>
          <a:xfrm>
            <a:off x="411480" y="3849624"/>
            <a:ext cx="45720" cy="86868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94360" y="3849624"/>
            <a:ext cx="2560320" cy="475488"/>
          </a:xfrm>
          <a:prstGeom prst="rect">
            <a:avLst/>
          </a:prstGeom>
          <a:noFill/>
        </p:spPr>
        <p:txBody>
          <a:bodyPr wrap="square">
            <a:spAutoFit/>
          </a:bodyPr>
          <a:lstStyle/>
          <a:p>
            <a:pPr algn="l"/>
            <a:r>
              <a:rPr sz="2000" b="1" i="0">
                <a:solidFill>
                  <a:srgbClr val="FFFFFF"/>
                </a:solidFill>
                <a:latin typeface="Calibri"/>
              </a:rPr>
              <a:t>9.4 pp</a:t>
            </a:r>
          </a:p>
        </p:txBody>
      </p:sp>
      <p:sp>
        <p:nvSpPr>
          <p:cNvPr id="99" name="TextBox 98"/>
          <p:cNvSpPr txBox="1"/>
          <p:nvPr/>
        </p:nvSpPr>
        <p:spPr>
          <a:xfrm>
            <a:off x="594360" y="4306824"/>
            <a:ext cx="3017520" cy="347472"/>
          </a:xfrm>
          <a:prstGeom prst="rect">
            <a:avLst/>
          </a:prstGeom>
          <a:noFill/>
        </p:spPr>
        <p:txBody>
          <a:bodyPr wrap="square">
            <a:spAutoFit/>
          </a:bodyPr>
          <a:lstStyle/>
          <a:p>
            <a:pPr algn="l"/>
            <a:r>
              <a:rPr sz="800" b="0" i="0">
                <a:solidFill>
                  <a:srgbClr val="90A4BE"/>
                </a:solidFill>
                <a:latin typeface="Calibri"/>
              </a:rPr>
              <a:t>Inflation Differential
(Zambia vs US, 2023)</a:t>
            </a:r>
          </a:p>
        </p:txBody>
      </p:sp>
      <p:sp>
        <p:nvSpPr>
          <p:cNvPr id="100" name="Rectangle 99"/>
          <p:cNvSpPr/>
          <p:nvPr/>
        </p:nvSpPr>
        <p:spPr>
          <a:xfrm>
            <a:off x="411480" y="5020056"/>
            <a:ext cx="45720" cy="86868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94360" y="5020056"/>
            <a:ext cx="2560320" cy="475488"/>
          </a:xfrm>
          <a:prstGeom prst="rect">
            <a:avLst/>
          </a:prstGeom>
          <a:noFill/>
        </p:spPr>
        <p:txBody>
          <a:bodyPr wrap="square">
            <a:spAutoFit/>
          </a:bodyPr>
          <a:lstStyle/>
          <a:p>
            <a:pPr algn="l"/>
            <a:r>
              <a:rPr sz="2000" b="1" i="0">
                <a:solidFill>
                  <a:srgbClr val="FFFFFF"/>
                </a:solidFill>
                <a:latin typeface="Calibri"/>
              </a:rPr>
              <a:t>3.1%</a:t>
            </a:r>
          </a:p>
        </p:txBody>
      </p:sp>
      <p:sp>
        <p:nvSpPr>
          <p:cNvPr id="102" name="TextBox 101"/>
          <p:cNvSpPr txBox="1"/>
          <p:nvPr/>
        </p:nvSpPr>
        <p:spPr>
          <a:xfrm>
            <a:off x="594360" y="5477256"/>
            <a:ext cx="3017520" cy="347472"/>
          </a:xfrm>
          <a:prstGeom prst="rect">
            <a:avLst/>
          </a:prstGeom>
          <a:noFill/>
        </p:spPr>
        <p:txBody>
          <a:bodyPr wrap="square">
            <a:spAutoFit/>
          </a:bodyPr>
          <a:lstStyle/>
          <a:p>
            <a:pPr algn="l"/>
            <a:r>
              <a:rPr sz="800" b="0" i="0">
                <a:solidFill>
                  <a:srgbClr val="90A4BE"/>
                </a:solidFill>
                <a:latin typeface="Calibri"/>
              </a:rPr>
              <a:t>Bid-Ask Spread (2023)</a:t>
            </a:r>
          </a:p>
        </p:txBody>
      </p:sp>
      <p:sp>
        <p:nvSpPr>
          <p:cNvPr id="103" name="TextBox 102"/>
          <p:cNvSpPr txBox="1"/>
          <p:nvPr/>
        </p:nvSpPr>
        <p:spPr>
          <a:xfrm>
            <a:off x="4160520" y="1463040"/>
            <a:ext cx="7772400" cy="914400"/>
          </a:xfrm>
          <a:prstGeom prst="rect">
            <a:avLst/>
          </a:prstGeom>
          <a:noFill/>
        </p:spPr>
        <p:txBody>
          <a:bodyPr wrap="square">
            <a:spAutoFit/>
          </a:bodyPr>
          <a:lstStyle/>
          <a:p>
            <a:pPr algn="l"/>
            <a:r>
              <a:rPr sz="4200" b="1" i="0">
                <a:solidFill>
                  <a:srgbClr val="FFFFFF"/>
                </a:solidFill>
                <a:latin typeface="Calibri"/>
              </a:rPr>
              <a:t>THANK YOU</a:t>
            </a:r>
          </a:p>
        </p:txBody>
      </p:sp>
      <p:sp>
        <p:nvSpPr>
          <p:cNvPr id="104" name="Rectangle 103"/>
          <p:cNvSpPr/>
          <p:nvPr/>
        </p:nvSpPr>
        <p:spPr>
          <a:xfrm>
            <a:off x="4160520" y="2450592"/>
            <a:ext cx="3200400" cy="411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160520" y="2578608"/>
            <a:ext cx="7589520" cy="1691640"/>
          </a:xfrm>
          <a:prstGeom prst="rect">
            <a:avLst/>
          </a:prstGeom>
          <a:noFill/>
        </p:spPr>
        <p:txBody>
          <a:bodyPr wrap="square">
            <a:spAutoFit/>
          </a:bodyPr>
          <a:lstStyle/>
          <a:p>
            <a:pPr algn="l"/>
            <a:r>
              <a:rPr sz="1100" b="0" i="0">
                <a:solidFill>
                  <a:srgbClr val="90A4BE"/>
                </a:solidFill>
                <a:latin typeface="Calibri"/>
              </a:rPr>
              <a:t>This analysis provides a data-driven foundation for exchange
rate policy review and strategic decision-making for Zambia.
The findings highlight the urgency of addressing inflation
differentials and FX market depth to sustain ZMW stability.</a:t>
            </a:r>
          </a:p>
        </p:txBody>
      </p:sp>
      <p:sp>
        <p:nvSpPr>
          <p:cNvPr id="106" name="TextBox 105"/>
          <p:cNvSpPr txBox="1"/>
          <p:nvPr/>
        </p:nvSpPr>
        <p:spPr>
          <a:xfrm>
            <a:off x="4160520" y="4434840"/>
            <a:ext cx="7589520" cy="411480"/>
          </a:xfrm>
          <a:prstGeom prst="rect">
            <a:avLst/>
          </a:prstGeom>
          <a:noFill/>
        </p:spPr>
        <p:txBody>
          <a:bodyPr wrap="square">
            <a:spAutoFit/>
          </a:bodyPr>
          <a:lstStyle/>
          <a:p>
            <a:pPr algn="l"/>
            <a:r>
              <a:rPr sz="1300" b="1" i="0">
                <a:solidFill>
                  <a:srgbClr val="64B5F6"/>
                </a:solidFill>
                <a:latin typeface="Calibri"/>
              </a:rPr>
              <a:t>QUESTIONS &amp; DISCUSSION</a:t>
            </a:r>
          </a:p>
        </p:txBody>
      </p:sp>
      <p:sp>
        <p:nvSpPr>
          <p:cNvPr id="1" name="RndRect"/>
          <p:cNvSpPr>
            <a:spLocks noGrp="1"/>
          </p:cNvSpPr>
          <p:nvPr/>
        </p:nvSpPr>
        <p:spPr>
          <a:xfrm>
            <a:off x="4023360" y="5047488"/>
            <a:ext cx="7955279" cy="1078992"/>
          </a:xfrm>
          <a:prstGeom prst="roundRect">
            <a:avLst>
              <a:gd name="adj" fmla="val 5560"/>
            </a:avLst>
          </a:prstGeom>
          <a:solidFill>
            <a:srgbClr val="122855"/>
          </a:solidFill>
          <a:ln w="12700">
            <a:solidFill>
              <a:srgbClr val="1A3C7D"/>
            </a:solidFill>
          </a:ln>
        </p:spPr>
        <p:txBody>
          <a:bodyPr/>
          <a:lstStyle/>
          <a:p/>
        </p:txBody>
      </p:sp>
      <p:sp>
        <p:nvSpPr>
          <p:cNvPr id="107" name="TextBox 106"/>
          <p:cNvSpPr txBox="1"/>
          <p:nvPr/>
        </p:nvSpPr>
        <p:spPr>
          <a:xfrm>
            <a:off x="4206240" y="5120640"/>
            <a:ext cx="2743200" cy="256032"/>
          </a:xfrm>
          <a:prstGeom prst="rect">
            <a:avLst/>
          </a:prstGeom>
          <a:noFill/>
        </p:spPr>
        <p:txBody>
          <a:bodyPr wrap="square">
            <a:spAutoFit/>
          </a:bodyPr>
          <a:lstStyle/>
          <a:p>
            <a:pPr algn="l"/>
            <a:r>
              <a:rPr sz="700" b="1" i="0">
                <a:solidFill>
                  <a:srgbClr val="F5A623"/>
                </a:solidFill>
                <a:latin typeface="Calibri"/>
              </a:rPr>
              <a:t>PREPARED BY</a:t>
            </a:r>
          </a:p>
        </p:txBody>
      </p:sp>
      <p:sp>
        <p:nvSpPr>
          <p:cNvPr id="108" name="TextBox 107"/>
          <p:cNvSpPr txBox="1"/>
          <p:nvPr/>
        </p:nvSpPr>
        <p:spPr>
          <a:xfrm>
            <a:off x="4206240" y="5358384"/>
            <a:ext cx="5029200" cy="274320"/>
          </a:xfrm>
          <a:prstGeom prst="rect">
            <a:avLst/>
          </a:prstGeom>
          <a:noFill/>
        </p:spPr>
        <p:txBody>
          <a:bodyPr wrap="square">
            <a:spAutoFit/>
          </a:bodyPr>
          <a:lstStyle/>
          <a:p>
            <a:pPr algn="l"/>
            <a:r>
              <a:rPr sz="1000" b="1" i="0">
                <a:solidFill>
                  <a:srgbClr val="FFFFFF"/>
                </a:solidFill>
                <a:latin typeface="Calibri"/>
              </a:rPr>
              <a:t>FSi Outsourcing — Analytics &amp; Advisory</a:t>
            </a:r>
          </a:p>
        </p:txBody>
      </p:sp>
      <p:sp>
        <p:nvSpPr>
          <p:cNvPr id="109" name="TextBox 108"/>
          <p:cNvSpPr txBox="1"/>
          <p:nvPr/>
        </p:nvSpPr>
        <p:spPr>
          <a:xfrm>
            <a:off x="4206240" y="5632704"/>
            <a:ext cx="6400800" cy="256032"/>
          </a:xfrm>
          <a:prstGeom prst="rect">
            <a:avLst/>
          </a:prstGeom>
          <a:noFill/>
        </p:spPr>
        <p:txBody>
          <a:bodyPr wrap="square">
            <a:spAutoFit/>
          </a:bodyPr>
          <a:lstStyle/>
          <a:p>
            <a:pPr algn="l"/>
            <a:r>
              <a:rPr sz="800" b="0" i="0">
                <a:solidFill>
                  <a:srgbClr val="90A4BE"/>
                </a:solidFill>
                <a:latin typeface="Calibri"/>
              </a:rPr>
              <a:t>k.banda@fsioutsourcing.com  |  May 2026  |  CONFIDENTIAL</a:t>
            </a:r>
          </a:p>
        </p:txBody>
      </p:sp>
      <p:sp>
        <p:nvSpPr>
          <p:cNvPr id="110" name="TextBox 109"/>
          <p:cNvSpPr txBox="1"/>
          <p:nvPr/>
        </p:nvSpPr>
        <p:spPr>
          <a:xfrm>
            <a:off x="4160520" y="6080760"/>
            <a:ext cx="7589520" cy="457200"/>
          </a:xfrm>
          <a:prstGeom prst="rect">
            <a:avLst/>
          </a:prstGeom>
          <a:noFill/>
        </p:spPr>
        <p:txBody>
          <a:bodyPr wrap="square">
            <a:spAutoFit/>
          </a:bodyPr>
          <a:lstStyle/>
          <a:p>
            <a:pPr algn="l"/>
            <a:r>
              <a:rPr sz="700" b="0" i="0">
                <a:solidFill>
                  <a:srgbClr val="1A3C7D"/>
                </a:solidFill>
                <a:latin typeface="Calibri"/>
              </a:rPr>
              <a:t>Data sourced from Power BI model: Analysis.pbix
Analysis Period: 2015–2023  |  All rates in ZMW/USD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